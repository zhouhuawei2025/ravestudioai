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sldIdLst>
    <p:sldId id="318" r:id="rId2"/>
    <p:sldId id="317" r:id="rId3"/>
    <p:sldId id="301" r:id="rId4"/>
    <p:sldId id="292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302" r:id="rId13"/>
    <p:sldId id="293" r:id="rId14"/>
    <p:sldId id="298" r:id="rId15"/>
    <p:sldId id="299" r:id="rId16"/>
    <p:sldId id="303" r:id="rId17"/>
    <p:sldId id="304" r:id="rId18"/>
    <p:sldId id="315" r:id="rId19"/>
    <p:sldId id="307" r:id="rId20"/>
    <p:sldId id="275" r:id="rId21"/>
    <p:sldId id="310" r:id="rId22"/>
    <p:sldId id="311" r:id="rId23"/>
    <p:sldId id="312" r:id="rId24"/>
    <p:sldId id="279" r:id="rId25"/>
    <p:sldId id="308" r:id="rId26"/>
    <p:sldId id="313" r:id="rId27"/>
    <p:sldId id="314" r:id="rId28"/>
    <p:sldId id="305" r:id="rId29"/>
    <p:sldId id="262" r:id="rId30"/>
    <p:sldId id="263" r:id="rId31"/>
    <p:sldId id="30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I配置" id="{E3F7171A-A426-46F7-81C6-9BE9C3809043}">
          <p14:sldIdLst>
            <p14:sldId id="318"/>
            <p14:sldId id="317"/>
          </p14:sldIdLst>
        </p14:section>
        <p14:section name="CRF Builder" id="{C9E107D2-C743-4513-AB5B-40587A4A1270}">
          <p14:sldIdLst>
            <p14:sldId id="301"/>
            <p14:sldId id="292"/>
            <p14:sldId id="284"/>
            <p14:sldId id="285"/>
            <p14:sldId id="286"/>
            <p14:sldId id="287"/>
            <p14:sldId id="288"/>
            <p14:sldId id="289"/>
            <p14:sldId id="291"/>
            <p14:sldId id="302"/>
            <p14:sldId id="293"/>
            <p14:sldId id="298"/>
            <p14:sldId id="299"/>
          </p14:sldIdLst>
        </p14:section>
        <p14:section name="Matrix Builder" id="{7F320666-17A0-4FC6-AB78-C7FEEE49DDBF}">
          <p14:sldIdLst>
            <p14:sldId id="303"/>
            <p14:sldId id="304"/>
            <p14:sldId id="315"/>
          </p14:sldIdLst>
        </p14:section>
        <p14:section name="Quick Edit" id="{5DAA64BC-4767-4BAF-9822-9B312D3289BE}">
          <p14:sldIdLst>
            <p14:sldId id="307"/>
            <p14:sldId id="275"/>
            <p14:sldId id="310"/>
            <p14:sldId id="311"/>
            <p14:sldId id="312"/>
            <p14:sldId id="279"/>
            <p14:sldId id="308"/>
            <p14:sldId id="313"/>
            <p14:sldId id="314"/>
          </p14:sldIdLst>
        </p14:section>
        <p14:section name="RWS" id="{7ABB9C51-034C-43E2-8DB7-CBC02746E7D3}">
          <p14:sldIdLst>
            <p14:sldId id="305"/>
            <p14:sldId id="262"/>
            <p14:sldId id="263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504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4C1A63-C88B-407C-BEB9-CA8D21C77F46}" type="doc">
      <dgm:prSet loTypeId="urn:microsoft.com/office/officeart/2008/layout/LinedList" loCatId="list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B3AD939A-6EA7-4DA1-8AB9-F4F93FE16C0D}">
      <dgm:prSet custT="1"/>
      <dgm:spPr/>
      <dgm:t>
        <a:bodyPr/>
        <a:lstStyle/>
        <a:p>
          <a:pPr algn="ctr"/>
          <a:r>
            <a:rPr lang="en-US" sz="2000" dirty="0"/>
            <a:t>CRF</a:t>
          </a:r>
          <a:r>
            <a:rPr lang="zh-CN" sz="2000" dirty="0"/>
            <a:t>表单类型</a:t>
          </a:r>
        </a:p>
      </dgm:t>
    </dgm:pt>
    <dgm:pt modelId="{3439B617-B6FB-4B45-9597-7169A06EA8A2}" type="parTrans" cxnId="{2510191B-F9A5-4506-9A2B-1FB376331DB7}">
      <dgm:prSet/>
      <dgm:spPr/>
      <dgm:t>
        <a:bodyPr/>
        <a:lstStyle/>
        <a:p>
          <a:endParaRPr lang="zh-CN" altLang="en-US"/>
        </a:p>
      </dgm:t>
    </dgm:pt>
    <dgm:pt modelId="{ED7D6BE6-2918-44B2-AB85-0F8385C3EB0F}" type="sibTrans" cxnId="{2510191B-F9A5-4506-9A2B-1FB376331DB7}">
      <dgm:prSet/>
      <dgm:spPr/>
      <dgm:t>
        <a:bodyPr/>
        <a:lstStyle/>
        <a:p>
          <a:endParaRPr lang="zh-CN" altLang="en-US"/>
        </a:p>
      </dgm:t>
    </dgm:pt>
    <dgm:pt modelId="{965D8FCF-8164-45D9-846F-897FCE15AE18}">
      <dgm:prSet/>
      <dgm:spPr/>
      <dgm:t>
        <a:bodyPr/>
        <a:lstStyle/>
        <a:p>
          <a:r>
            <a:rPr lang="zh-CN" altLang="en-US" dirty="0"/>
            <a:t>常规</a:t>
          </a:r>
          <a:r>
            <a:rPr lang="zh-CN" dirty="0"/>
            <a:t>表单</a:t>
          </a:r>
        </a:p>
      </dgm:t>
    </dgm:pt>
    <dgm:pt modelId="{69982B1E-1000-480E-8B68-F0AA033A9BE6}" type="parTrans" cxnId="{9669FD76-BA45-4EB7-8658-17349C3F65DF}">
      <dgm:prSet/>
      <dgm:spPr/>
      <dgm:t>
        <a:bodyPr/>
        <a:lstStyle/>
        <a:p>
          <a:endParaRPr lang="zh-CN" altLang="en-US"/>
        </a:p>
      </dgm:t>
    </dgm:pt>
    <dgm:pt modelId="{9C07798F-DFC3-47E5-8975-82AF0F2FA10D}" type="sibTrans" cxnId="{9669FD76-BA45-4EB7-8658-17349C3F65DF}">
      <dgm:prSet/>
      <dgm:spPr/>
      <dgm:t>
        <a:bodyPr/>
        <a:lstStyle/>
        <a:p>
          <a:endParaRPr lang="zh-CN" altLang="en-US"/>
        </a:p>
      </dgm:t>
    </dgm:pt>
    <dgm:pt modelId="{DB23F912-8E72-4125-B269-5E167641EB92}">
      <dgm:prSet/>
      <dgm:spPr/>
      <dgm:t>
        <a:bodyPr/>
        <a:lstStyle/>
        <a:p>
          <a:r>
            <a:rPr lang="zh-CN" dirty="0"/>
            <a:t>可添加行表单（</a:t>
          </a:r>
          <a:r>
            <a:rPr lang="en-US" dirty="0"/>
            <a:t>3</a:t>
          </a:r>
          <a:r>
            <a:rPr lang="zh-CN" dirty="0"/>
            <a:t>列式）</a:t>
          </a:r>
          <a:r>
            <a:rPr lang="en-US" altLang="zh-CN" dirty="0"/>
            <a:t>       </a:t>
          </a:r>
          <a:r>
            <a:rPr lang="zh-CN" altLang="en-US" dirty="0"/>
            <a:t>标识符：</a:t>
          </a:r>
          <a:r>
            <a:rPr lang="en-US" altLang="zh-CN" dirty="0">
              <a:solidFill>
                <a:srgbClr val="FF0000"/>
              </a:solidFill>
            </a:rPr>
            <a:t>ADD1</a:t>
          </a:r>
          <a:endParaRPr lang="zh-CN" dirty="0">
            <a:solidFill>
              <a:srgbClr val="FF0000"/>
            </a:solidFill>
          </a:endParaRPr>
        </a:p>
      </dgm:t>
    </dgm:pt>
    <dgm:pt modelId="{C11F8B00-F179-4091-A449-5CBF6320320F}" type="parTrans" cxnId="{0F6CA3B2-4A25-45A5-997B-E1473E2BE232}">
      <dgm:prSet/>
      <dgm:spPr/>
      <dgm:t>
        <a:bodyPr/>
        <a:lstStyle/>
        <a:p>
          <a:endParaRPr lang="zh-CN" altLang="en-US"/>
        </a:p>
      </dgm:t>
    </dgm:pt>
    <dgm:pt modelId="{C7C40F88-E93E-4FB4-97A7-4C492A71981F}" type="sibTrans" cxnId="{0F6CA3B2-4A25-45A5-997B-E1473E2BE232}">
      <dgm:prSet/>
      <dgm:spPr/>
      <dgm:t>
        <a:bodyPr/>
        <a:lstStyle/>
        <a:p>
          <a:endParaRPr lang="zh-CN" altLang="en-US"/>
        </a:p>
      </dgm:t>
    </dgm:pt>
    <dgm:pt modelId="{46DC4B3A-9D78-4A74-8EF9-20B586AFBA73}">
      <dgm:prSet/>
      <dgm:spPr/>
      <dgm:t>
        <a:bodyPr/>
        <a:lstStyle/>
        <a:p>
          <a:r>
            <a:rPr lang="zh-CN" dirty="0"/>
            <a:t>可添加行表单（多列式）</a:t>
          </a:r>
          <a:r>
            <a:rPr lang="en-US" altLang="zh-CN" dirty="0"/>
            <a:t>     </a:t>
          </a:r>
          <a:r>
            <a:rPr lang="zh-CN" altLang="en-US" dirty="0"/>
            <a:t>标识符：</a:t>
          </a:r>
          <a:r>
            <a:rPr lang="en-US" altLang="zh-CN" dirty="0">
              <a:solidFill>
                <a:srgbClr val="FF0000"/>
              </a:solidFill>
            </a:rPr>
            <a:t>ADD2</a:t>
          </a:r>
          <a:endParaRPr lang="zh-CN" dirty="0">
            <a:solidFill>
              <a:srgbClr val="FF0000"/>
            </a:solidFill>
          </a:endParaRPr>
        </a:p>
      </dgm:t>
    </dgm:pt>
    <dgm:pt modelId="{ABBCA1FA-613D-4979-9ACA-504057F58E03}" type="parTrans" cxnId="{9865676F-D2C0-46CF-BEB1-6C2E98598FCF}">
      <dgm:prSet/>
      <dgm:spPr/>
      <dgm:t>
        <a:bodyPr/>
        <a:lstStyle/>
        <a:p>
          <a:endParaRPr lang="zh-CN" altLang="en-US"/>
        </a:p>
      </dgm:t>
    </dgm:pt>
    <dgm:pt modelId="{271B6215-AF59-4DAF-A92F-B3D5ED6D47A8}" type="sibTrans" cxnId="{9865676F-D2C0-46CF-BEB1-6C2E98598FCF}">
      <dgm:prSet/>
      <dgm:spPr/>
      <dgm:t>
        <a:bodyPr/>
        <a:lstStyle/>
        <a:p>
          <a:endParaRPr lang="zh-CN" altLang="en-US"/>
        </a:p>
      </dgm:t>
    </dgm:pt>
    <dgm:pt modelId="{3FE1AAD8-12D0-491D-A1B2-082D721B9E46}">
      <dgm:prSet/>
      <dgm:spPr/>
      <dgm:t>
        <a:bodyPr/>
        <a:lstStyle/>
        <a:p>
          <a:r>
            <a:rPr lang="zh-CN" dirty="0"/>
            <a:t>固定行表单（</a:t>
          </a:r>
          <a:r>
            <a:rPr lang="en-US" dirty="0"/>
            <a:t>3</a:t>
          </a:r>
          <a:r>
            <a:rPr lang="zh-CN" dirty="0"/>
            <a:t>列式）</a:t>
          </a:r>
          <a:r>
            <a:rPr lang="en-US" altLang="zh-CN" dirty="0"/>
            <a:t>           </a:t>
          </a:r>
          <a:r>
            <a:rPr lang="zh-CN" altLang="en-US" dirty="0"/>
            <a:t>标识符：</a:t>
          </a:r>
          <a:r>
            <a:rPr lang="en-US" altLang="zh-CN" dirty="0">
              <a:solidFill>
                <a:srgbClr val="FF0000"/>
              </a:solidFill>
            </a:rPr>
            <a:t>FIX1</a:t>
          </a:r>
          <a:endParaRPr lang="zh-CN" dirty="0">
            <a:solidFill>
              <a:srgbClr val="FF0000"/>
            </a:solidFill>
          </a:endParaRPr>
        </a:p>
      </dgm:t>
    </dgm:pt>
    <dgm:pt modelId="{AFB62C64-7758-443F-A9BF-01EAD5C9483F}" type="parTrans" cxnId="{64458B61-7B19-46A5-B8B6-4D16DE87B41F}">
      <dgm:prSet/>
      <dgm:spPr/>
      <dgm:t>
        <a:bodyPr/>
        <a:lstStyle/>
        <a:p>
          <a:endParaRPr lang="zh-CN" altLang="en-US"/>
        </a:p>
      </dgm:t>
    </dgm:pt>
    <dgm:pt modelId="{EE46C55F-900E-4EF9-A06D-F7FCBF514AEF}" type="sibTrans" cxnId="{64458B61-7B19-46A5-B8B6-4D16DE87B41F}">
      <dgm:prSet/>
      <dgm:spPr/>
      <dgm:t>
        <a:bodyPr/>
        <a:lstStyle/>
        <a:p>
          <a:endParaRPr lang="zh-CN" altLang="en-US"/>
        </a:p>
      </dgm:t>
    </dgm:pt>
    <dgm:pt modelId="{0B9CD059-FB36-4997-8048-3AD81F2447B6}">
      <dgm:prSet/>
      <dgm:spPr/>
      <dgm:t>
        <a:bodyPr/>
        <a:lstStyle/>
        <a:p>
          <a:r>
            <a:rPr lang="zh-CN" dirty="0"/>
            <a:t>固定行表单（多列式）</a:t>
          </a:r>
          <a:r>
            <a:rPr lang="en-US" altLang="zh-CN" dirty="0"/>
            <a:t>          </a:t>
          </a:r>
          <a:r>
            <a:rPr lang="zh-CN" altLang="en-US" dirty="0"/>
            <a:t>标识符：</a:t>
          </a:r>
          <a:r>
            <a:rPr lang="en-US" altLang="zh-CN" dirty="0">
              <a:solidFill>
                <a:srgbClr val="FF0000"/>
              </a:solidFill>
            </a:rPr>
            <a:t>FIX2</a:t>
          </a:r>
          <a:endParaRPr lang="zh-CN" dirty="0">
            <a:solidFill>
              <a:srgbClr val="FF0000"/>
            </a:solidFill>
          </a:endParaRPr>
        </a:p>
      </dgm:t>
    </dgm:pt>
    <dgm:pt modelId="{4F123C47-15D4-45CD-A43C-7CC8FAEAC50F}" type="parTrans" cxnId="{63C7EC29-E184-4A5B-A00E-E1C196D4126D}">
      <dgm:prSet/>
      <dgm:spPr/>
      <dgm:t>
        <a:bodyPr/>
        <a:lstStyle/>
        <a:p>
          <a:endParaRPr lang="zh-CN" altLang="en-US"/>
        </a:p>
      </dgm:t>
    </dgm:pt>
    <dgm:pt modelId="{6AF69139-8C09-4A30-86DC-AA8CEE4A3215}" type="sibTrans" cxnId="{63C7EC29-E184-4A5B-A00E-E1C196D4126D}">
      <dgm:prSet/>
      <dgm:spPr/>
      <dgm:t>
        <a:bodyPr/>
        <a:lstStyle/>
        <a:p>
          <a:endParaRPr lang="zh-CN" altLang="en-US"/>
        </a:p>
      </dgm:t>
    </dgm:pt>
    <dgm:pt modelId="{DBEA5FD7-5ECC-4A99-952A-1426C9C6BCCA}">
      <dgm:prSet/>
      <dgm:spPr/>
      <dgm:t>
        <a:bodyPr/>
        <a:lstStyle/>
        <a:p>
          <a:r>
            <a:rPr lang="en-US" dirty="0"/>
            <a:t>LAB</a:t>
          </a:r>
          <a:r>
            <a:rPr lang="zh-CN" dirty="0"/>
            <a:t>表单</a:t>
          </a:r>
          <a:r>
            <a:rPr lang="en-US" altLang="zh-CN" dirty="0"/>
            <a:t> 		        </a:t>
          </a:r>
          <a:r>
            <a:rPr lang="zh-CN" altLang="en-US" dirty="0"/>
            <a:t>标识符：</a:t>
          </a:r>
          <a:r>
            <a:rPr lang="en-US" altLang="zh-CN" dirty="0">
              <a:solidFill>
                <a:srgbClr val="FF0000"/>
              </a:solidFill>
            </a:rPr>
            <a:t>LAB2</a:t>
          </a:r>
          <a:endParaRPr lang="zh-CN" dirty="0">
            <a:solidFill>
              <a:srgbClr val="FF0000"/>
            </a:solidFill>
          </a:endParaRPr>
        </a:p>
      </dgm:t>
    </dgm:pt>
    <dgm:pt modelId="{F614916C-59A6-4A7B-9429-6313396A0CB2}" type="parTrans" cxnId="{7352AFFB-0CF5-4DAC-8261-4A7F0D171CFC}">
      <dgm:prSet/>
      <dgm:spPr/>
      <dgm:t>
        <a:bodyPr/>
        <a:lstStyle/>
        <a:p>
          <a:endParaRPr lang="zh-CN" altLang="en-US"/>
        </a:p>
      </dgm:t>
    </dgm:pt>
    <dgm:pt modelId="{0B80E331-9CB2-4456-9FCA-D6EE163DD8C0}" type="sibTrans" cxnId="{7352AFFB-0CF5-4DAC-8261-4A7F0D171CFC}">
      <dgm:prSet/>
      <dgm:spPr/>
      <dgm:t>
        <a:bodyPr/>
        <a:lstStyle/>
        <a:p>
          <a:endParaRPr lang="zh-CN" altLang="en-US"/>
        </a:p>
      </dgm:t>
    </dgm:pt>
    <dgm:pt modelId="{2703E43E-90CC-45F1-9D0F-2CF1519FB951}" type="pres">
      <dgm:prSet presAssocID="{614C1A63-C88B-407C-BEB9-CA8D21C77F46}" presName="vert0" presStyleCnt="0">
        <dgm:presLayoutVars>
          <dgm:dir/>
          <dgm:animOne val="branch"/>
          <dgm:animLvl val="lvl"/>
        </dgm:presLayoutVars>
      </dgm:prSet>
      <dgm:spPr/>
    </dgm:pt>
    <dgm:pt modelId="{47D89960-2A79-41BA-92E4-AD4C0F2C6551}" type="pres">
      <dgm:prSet presAssocID="{B3AD939A-6EA7-4DA1-8AB9-F4F93FE16C0D}" presName="thickLine" presStyleLbl="alignNode1" presStyleIdx="0" presStyleCnt="1"/>
      <dgm:spPr/>
    </dgm:pt>
    <dgm:pt modelId="{077FD9E6-5C65-48C2-8947-D537F9D629F9}" type="pres">
      <dgm:prSet presAssocID="{B3AD939A-6EA7-4DA1-8AB9-F4F93FE16C0D}" presName="horz1" presStyleCnt="0"/>
      <dgm:spPr/>
    </dgm:pt>
    <dgm:pt modelId="{1DCB3702-EE22-4E6D-A7B1-CCF07F34C790}" type="pres">
      <dgm:prSet presAssocID="{B3AD939A-6EA7-4DA1-8AB9-F4F93FE16C0D}" presName="tx1" presStyleLbl="revTx" presStyleIdx="0" presStyleCnt="7" custScaleX="171955"/>
      <dgm:spPr/>
    </dgm:pt>
    <dgm:pt modelId="{13A53D54-CF89-411B-A79B-586A88223724}" type="pres">
      <dgm:prSet presAssocID="{B3AD939A-6EA7-4DA1-8AB9-F4F93FE16C0D}" presName="vert1" presStyleCnt="0"/>
      <dgm:spPr/>
    </dgm:pt>
    <dgm:pt modelId="{AAA8CCE6-D8DC-49B9-B142-E888D149BD00}" type="pres">
      <dgm:prSet presAssocID="{965D8FCF-8164-45D9-846F-897FCE15AE18}" presName="vertSpace2a" presStyleCnt="0"/>
      <dgm:spPr/>
    </dgm:pt>
    <dgm:pt modelId="{75E91EC7-0A8B-4246-A4BF-366A0B8DC90D}" type="pres">
      <dgm:prSet presAssocID="{965D8FCF-8164-45D9-846F-897FCE15AE18}" presName="horz2" presStyleCnt="0"/>
      <dgm:spPr/>
    </dgm:pt>
    <dgm:pt modelId="{B2EC065D-5D5A-47D8-A387-EF840054881F}" type="pres">
      <dgm:prSet presAssocID="{965D8FCF-8164-45D9-846F-897FCE15AE18}" presName="horzSpace2" presStyleCnt="0"/>
      <dgm:spPr/>
    </dgm:pt>
    <dgm:pt modelId="{A9D43F51-846B-47A0-83F2-D5760C1BBBA8}" type="pres">
      <dgm:prSet presAssocID="{965D8FCF-8164-45D9-846F-897FCE15AE18}" presName="tx2" presStyleLbl="revTx" presStyleIdx="1" presStyleCnt="7"/>
      <dgm:spPr/>
    </dgm:pt>
    <dgm:pt modelId="{B67BD1B3-09DE-481D-B84E-55F53901793A}" type="pres">
      <dgm:prSet presAssocID="{965D8FCF-8164-45D9-846F-897FCE15AE18}" presName="vert2" presStyleCnt="0"/>
      <dgm:spPr/>
    </dgm:pt>
    <dgm:pt modelId="{EBBEE5E7-05E8-48E1-9D56-80232635F86D}" type="pres">
      <dgm:prSet presAssocID="{965D8FCF-8164-45D9-846F-897FCE15AE18}" presName="thinLine2b" presStyleLbl="callout" presStyleIdx="0" presStyleCnt="6"/>
      <dgm:spPr/>
    </dgm:pt>
    <dgm:pt modelId="{BE79952F-EEBC-405B-A2F3-C1F82BC0B911}" type="pres">
      <dgm:prSet presAssocID="{965D8FCF-8164-45D9-846F-897FCE15AE18}" presName="vertSpace2b" presStyleCnt="0"/>
      <dgm:spPr/>
    </dgm:pt>
    <dgm:pt modelId="{8A2AD15D-7196-4782-AD55-B3CE70B17D07}" type="pres">
      <dgm:prSet presAssocID="{DB23F912-8E72-4125-B269-5E167641EB92}" presName="horz2" presStyleCnt="0"/>
      <dgm:spPr/>
    </dgm:pt>
    <dgm:pt modelId="{D846C499-F244-4AED-A332-B425A5FA3C96}" type="pres">
      <dgm:prSet presAssocID="{DB23F912-8E72-4125-B269-5E167641EB92}" presName="horzSpace2" presStyleCnt="0"/>
      <dgm:spPr/>
    </dgm:pt>
    <dgm:pt modelId="{98D3321E-94C8-4A3A-8B2C-1EE81B532BDD}" type="pres">
      <dgm:prSet presAssocID="{DB23F912-8E72-4125-B269-5E167641EB92}" presName="tx2" presStyleLbl="revTx" presStyleIdx="2" presStyleCnt="7"/>
      <dgm:spPr/>
    </dgm:pt>
    <dgm:pt modelId="{90A5F57C-AD7A-43F4-8DD4-4B6D1C3137BD}" type="pres">
      <dgm:prSet presAssocID="{DB23F912-8E72-4125-B269-5E167641EB92}" presName="vert2" presStyleCnt="0"/>
      <dgm:spPr/>
    </dgm:pt>
    <dgm:pt modelId="{FE585245-BF5E-4662-A578-D21533F49DB1}" type="pres">
      <dgm:prSet presAssocID="{DB23F912-8E72-4125-B269-5E167641EB92}" presName="thinLine2b" presStyleLbl="callout" presStyleIdx="1" presStyleCnt="6"/>
      <dgm:spPr/>
    </dgm:pt>
    <dgm:pt modelId="{4DC616BC-ED91-40B1-B77A-102DA686A35B}" type="pres">
      <dgm:prSet presAssocID="{DB23F912-8E72-4125-B269-5E167641EB92}" presName="vertSpace2b" presStyleCnt="0"/>
      <dgm:spPr/>
    </dgm:pt>
    <dgm:pt modelId="{7D55BD2C-0CA0-4101-B4E0-D7C4431DE1AA}" type="pres">
      <dgm:prSet presAssocID="{46DC4B3A-9D78-4A74-8EF9-20B586AFBA73}" presName="horz2" presStyleCnt="0"/>
      <dgm:spPr/>
    </dgm:pt>
    <dgm:pt modelId="{D58C6341-AF23-4817-BEFA-3CB7B8851D69}" type="pres">
      <dgm:prSet presAssocID="{46DC4B3A-9D78-4A74-8EF9-20B586AFBA73}" presName="horzSpace2" presStyleCnt="0"/>
      <dgm:spPr/>
    </dgm:pt>
    <dgm:pt modelId="{431EFF34-31ED-44F5-AEC6-4744D1F6C34C}" type="pres">
      <dgm:prSet presAssocID="{46DC4B3A-9D78-4A74-8EF9-20B586AFBA73}" presName="tx2" presStyleLbl="revTx" presStyleIdx="3" presStyleCnt="7"/>
      <dgm:spPr/>
    </dgm:pt>
    <dgm:pt modelId="{276D29E1-78A1-4D5E-B7D8-9ABF0A74486C}" type="pres">
      <dgm:prSet presAssocID="{46DC4B3A-9D78-4A74-8EF9-20B586AFBA73}" presName="vert2" presStyleCnt="0"/>
      <dgm:spPr/>
    </dgm:pt>
    <dgm:pt modelId="{A13BEC32-0623-4200-8A8D-A56CC83C29CB}" type="pres">
      <dgm:prSet presAssocID="{46DC4B3A-9D78-4A74-8EF9-20B586AFBA73}" presName="thinLine2b" presStyleLbl="callout" presStyleIdx="2" presStyleCnt="6"/>
      <dgm:spPr/>
    </dgm:pt>
    <dgm:pt modelId="{438B7E7D-C430-463D-A49D-957464EA25B7}" type="pres">
      <dgm:prSet presAssocID="{46DC4B3A-9D78-4A74-8EF9-20B586AFBA73}" presName="vertSpace2b" presStyleCnt="0"/>
      <dgm:spPr/>
    </dgm:pt>
    <dgm:pt modelId="{A14FF542-3166-4EB6-9567-F67E0C71FC3F}" type="pres">
      <dgm:prSet presAssocID="{3FE1AAD8-12D0-491D-A1B2-082D721B9E46}" presName="horz2" presStyleCnt="0"/>
      <dgm:spPr/>
    </dgm:pt>
    <dgm:pt modelId="{F3EBF104-4525-470F-A5B8-501536C2FA88}" type="pres">
      <dgm:prSet presAssocID="{3FE1AAD8-12D0-491D-A1B2-082D721B9E46}" presName="horzSpace2" presStyleCnt="0"/>
      <dgm:spPr/>
    </dgm:pt>
    <dgm:pt modelId="{A2975A14-B93D-49A9-AB4E-13A7E8A89068}" type="pres">
      <dgm:prSet presAssocID="{3FE1AAD8-12D0-491D-A1B2-082D721B9E46}" presName="tx2" presStyleLbl="revTx" presStyleIdx="4" presStyleCnt="7"/>
      <dgm:spPr/>
    </dgm:pt>
    <dgm:pt modelId="{DD501A39-F369-4903-B0FA-045E33BAC8AE}" type="pres">
      <dgm:prSet presAssocID="{3FE1AAD8-12D0-491D-A1B2-082D721B9E46}" presName="vert2" presStyleCnt="0"/>
      <dgm:spPr/>
    </dgm:pt>
    <dgm:pt modelId="{8723634C-D783-4DFA-8E6B-290CF4B11D7A}" type="pres">
      <dgm:prSet presAssocID="{3FE1AAD8-12D0-491D-A1B2-082D721B9E46}" presName="thinLine2b" presStyleLbl="callout" presStyleIdx="3" presStyleCnt="6"/>
      <dgm:spPr/>
    </dgm:pt>
    <dgm:pt modelId="{37E12BC2-70EF-4059-82FC-52CBD7A19881}" type="pres">
      <dgm:prSet presAssocID="{3FE1AAD8-12D0-491D-A1B2-082D721B9E46}" presName="vertSpace2b" presStyleCnt="0"/>
      <dgm:spPr/>
    </dgm:pt>
    <dgm:pt modelId="{474D4622-FA5B-4795-8264-3312693B6C50}" type="pres">
      <dgm:prSet presAssocID="{0B9CD059-FB36-4997-8048-3AD81F2447B6}" presName="horz2" presStyleCnt="0"/>
      <dgm:spPr/>
    </dgm:pt>
    <dgm:pt modelId="{C07A1D68-7E8F-44A0-86D8-F00D059C02FB}" type="pres">
      <dgm:prSet presAssocID="{0B9CD059-FB36-4997-8048-3AD81F2447B6}" presName="horzSpace2" presStyleCnt="0"/>
      <dgm:spPr/>
    </dgm:pt>
    <dgm:pt modelId="{82DF4D73-7710-40B2-9B9B-38AA3D92E1F4}" type="pres">
      <dgm:prSet presAssocID="{0B9CD059-FB36-4997-8048-3AD81F2447B6}" presName="tx2" presStyleLbl="revTx" presStyleIdx="5" presStyleCnt="7"/>
      <dgm:spPr/>
    </dgm:pt>
    <dgm:pt modelId="{C3980205-386A-4FAE-8982-66E2A320F0D4}" type="pres">
      <dgm:prSet presAssocID="{0B9CD059-FB36-4997-8048-3AD81F2447B6}" presName="vert2" presStyleCnt="0"/>
      <dgm:spPr/>
    </dgm:pt>
    <dgm:pt modelId="{F43A2EE7-7F57-47C2-B8C6-26967FFFFADB}" type="pres">
      <dgm:prSet presAssocID="{0B9CD059-FB36-4997-8048-3AD81F2447B6}" presName="thinLine2b" presStyleLbl="callout" presStyleIdx="4" presStyleCnt="6"/>
      <dgm:spPr/>
    </dgm:pt>
    <dgm:pt modelId="{C39407A2-0078-4C68-BAC3-BE57B55E02C6}" type="pres">
      <dgm:prSet presAssocID="{0B9CD059-FB36-4997-8048-3AD81F2447B6}" presName="vertSpace2b" presStyleCnt="0"/>
      <dgm:spPr/>
    </dgm:pt>
    <dgm:pt modelId="{385D4E27-F85A-4ED5-99E7-2E6D7ADDF01D}" type="pres">
      <dgm:prSet presAssocID="{DBEA5FD7-5ECC-4A99-952A-1426C9C6BCCA}" presName="horz2" presStyleCnt="0"/>
      <dgm:spPr/>
    </dgm:pt>
    <dgm:pt modelId="{F1BE4F71-2485-4A88-A674-6B1F2A5B50B5}" type="pres">
      <dgm:prSet presAssocID="{DBEA5FD7-5ECC-4A99-952A-1426C9C6BCCA}" presName="horzSpace2" presStyleCnt="0"/>
      <dgm:spPr/>
    </dgm:pt>
    <dgm:pt modelId="{754AA2CD-8C00-41E3-A4C3-4C8419AD87D8}" type="pres">
      <dgm:prSet presAssocID="{DBEA5FD7-5ECC-4A99-952A-1426C9C6BCCA}" presName="tx2" presStyleLbl="revTx" presStyleIdx="6" presStyleCnt="7"/>
      <dgm:spPr/>
    </dgm:pt>
    <dgm:pt modelId="{D02449FB-C0F4-4BC6-86F8-EFEE2654BBA4}" type="pres">
      <dgm:prSet presAssocID="{DBEA5FD7-5ECC-4A99-952A-1426C9C6BCCA}" presName="vert2" presStyleCnt="0"/>
      <dgm:spPr/>
    </dgm:pt>
    <dgm:pt modelId="{4AF5C35D-6D37-4588-82FD-E3ED4582D5EB}" type="pres">
      <dgm:prSet presAssocID="{DBEA5FD7-5ECC-4A99-952A-1426C9C6BCCA}" presName="thinLine2b" presStyleLbl="callout" presStyleIdx="5" presStyleCnt="6"/>
      <dgm:spPr/>
    </dgm:pt>
    <dgm:pt modelId="{4D0AE3B5-874A-41FC-9B90-A77F32114C6A}" type="pres">
      <dgm:prSet presAssocID="{DBEA5FD7-5ECC-4A99-952A-1426C9C6BCCA}" presName="vertSpace2b" presStyleCnt="0"/>
      <dgm:spPr/>
    </dgm:pt>
  </dgm:ptLst>
  <dgm:cxnLst>
    <dgm:cxn modelId="{2510191B-F9A5-4506-9A2B-1FB376331DB7}" srcId="{614C1A63-C88B-407C-BEB9-CA8D21C77F46}" destId="{B3AD939A-6EA7-4DA1-8AB9-F4F93FE16C0D}" srcOrd="0" destOrd="0" parTransId="{3439B617-B6FB-4B45-9597-7169A06EA8A2}" sibTransId="{ED7D6BE6-2918-44B2-AB85-0F8385C3EB0F}"/>
    <dgm:cxn modelId="{63C7EC29-E184-4A5B-A00E-E1C196D4126D}" srcId="{B3AD939A-6EA7-4DA1-8AB9-F4F93FE16C0D}" destId="{0B9CD059-FB36-4997-8048-3AD81F2447B6}" srcOrd="4" destOrd="0" parTransId="{4F123C47-15D4-45CD-A43C-7CC8FAEAC50F}" sibTransId="{6AF69139-8C09-4A30-86DC-AA8CEE4A3215}"/>
    <dgm:cxn modelId="{25815B30-D02B-4426-8A85-A3D1FF216AC8}" type="presOf" srcId="{DB23F912-8E72-4125-B269-5E167641EB92}" destId="{98D3321E-94C8-4A3A-8B2C-1EE81B532BDD}" srcOrd="0" destOrd="0" presId="urn:microsoft.com/office/officeart/2008/layout/LinedList"/>
    <dgm:cxn modelId="{64458B61-7B19-46A5-B8B6-4D16DE87B41F}" srcId="{B3AD939A-6EA7-4DA1-8AB9-F4F93FE16C0D}" destId="{3FE1AAD8-12D0-491D-A1B2-082D721B9E46}" srcOrd="3" destOrd="0" parTransId="{AFB62C64-7758-443F-A9BF-01EAD5C9483F}" sibTransId="{EE46C55F-900E-4EF9-A06D-F7FCBF514AEF}"/>
    <dgm:cxn modelId="{9865676F-D2C0-46CF-BEB1-6C2E98598FCF}" srcId="{B3AD939A-6EA7-4DA1-8AB9-F4F93FE16C0D}" destId="{46DC4B3A-9D78-4A74-8EF9-20B586AFBA73}" srcOrd="2" destOrd="0" parTransId="{ABBCA1FA-613D-4979-9ACA-504057F58E03}" sibTransId="{271B6215-AF59-4DAF-A92F-B3D5ED6D47A8}"/>
    <dgm:cxn modelId="{720A0850-233E-4FEE-86C3-56B186CEE75E}" type="presOf" srcId="{DBEA5FD7-5ECC-4A99-952A-1426C9C6BCCA}" destId="{754AA2CD-8C00-41E3-A4C3-4C8419AD87D8}" srcOrd="0" destOrd="0" presId="urn:microsoft.com/office/officeart/2008/layout/LinedList"/>
    <dgm:cxn modelId="{9669FD76-BA45-4EB7-8658-17349C3F65DF}" srcId="{B3AD939A-6EA7-4DA1-8AB9-F4F93FE16C0D}" destId="{965D8FCF-8164-45D9-846F-897FCE15AE18}" srcOrd="0" destOrd="0" parTransId="{69982B1E-1000-480E-8B68-F0AA033A9BE6}" sibTransId="{9C07798F-DFC3-47E5-8975-82AF0F2FA10D}"/>
    <dgm:cxn modelId="{001B607C-EBA9-4DD0-9FE2-992F5FB970B6}" type="presOf" srcId="{46DC4B3A-9D78-4A74-8EF9-20B586AFBA73}" destId="{431EFF34-31ED-44F5-AEC6-4744D1F6C34C}" srcOrd="0" destOrd="0" presId="urn:microsoft.com/office/officeart/2008/layout/LinedList"/>
    <dgm:cxn modelId="{32EDC29A-1CAE-425E-895C-F1449A554B90}" type="presOf" srcId="{965D8FCF-8164-45D9-846F-897FCE15AE18}" destId="{A9D43F51-846B-47A0-83F2-D5760C1BBBA8}" srcOrd="0" destOrd="0" presId="urn:microsoft.com/office/officeart/2008/layout/LinedList"/>
    <dgm:cxn modelId="{BFFB2FA9-790B-407F-AF37-49DFBFA05621}" type="presOf" srcId="{B3AD939A-6EA7-4DA1-8AB9-F4F93FE16C0D}" destId="{1DCB3702-EE22-4E6D-A7B1-CCF07F34C790}" srcOrd="0" destOrd="0" presId="urn:microsoft.com/office/officeart/2008/layout/LinedList"/>
    <dgm:cxn modelId="{0F6CA3B2-4A25-45A5-997B-E1473E2BE232}" srcId="{B3AD939A-6EA7-4DA1-8AB9-F4F93FE16C0D}" destId="{DB23F912-8E72-4125-B269-5E167641EB92}" srcOrd="1" destOrd="0" parTransId="{C11F8B00-F179-4091-A449-5CBF6320320F}" sibTransId="{C7C40F88-E93E-4FB4-97A7-4C492A71981F}"/>
    <dgm:cxn modelId="{90B40EE0-ADBA-4DFC-A315-63613D5A1665}" type="presOf" srcId="{0B9CD059-FB36-4997-8048-3AD81F2447B6}" destId="{82DF4D73-7710-40B2-9B9B-38AA3D92E1F4}" srcOrd="0" destOrd="0" presId="urn:microsoft.com/office/officeart/2008/layout/LinedList"/>
    <dgm:cxn modelId="{F89BE4E5-7B5F-4523-A7BA-6B0EB6C83E11}" type="presOf" srcId="{3FE1AAD8-12D0-491D-A1B2-082D721B9E46}" destId="{A2975A14-B93D-49A9-AB4E-13A7E8A89068}" srcOrd="0" destOrd="0" presId="urn:microsoft.com/office/officeart/2008/layout/LinedList"/>
    <dgm:cxn modelId="{27D038EA-0061-4ADE-8435-67D8C154FC9A}" type="presOf" srcId="{614C1A63-C88B-407C-BEB9-CA8D21C77F46}" destId="{2703E43E-90CC-45F1-9D0F-2CF1519FB951}" srcOrd="0" destOrd="0" presId="urn:microsoft.com/office/officeart/2008/layout/LinedList"/>
    <dgm:cxn modelId="{7352AFFB-0CF5-4DAC-8261-4A7F0D171CFC}" srcId="{B3AD939A-6EA7-4DA1-8AB9-F4F93FE16C0D}" destId="{DBEA5FD7-5ECC-4A99-952A-1426C9C6BCCA}" srcOrd="5" destOrd="0" parTransId="{F614916C-59A6-4A7B-9429-6313396A0CB2}" sibTransId="{0B80E331-9CB2-4456-9FCA-D6EE163DD8C0}"/>
    <dgm:cxn modelId="{A4D57692-3A50-4579-9E8F-19CF39C949D7}" type="presParOf" srcId="{2703E43E-90CC-45F1-9D0F-2CF1519FB951}" destId="{47D89960-2A79-41BA-92E4-AD4C0F2C6551}" srcOrd="0" destOrd="0" presId="urn:microsoft.com/office/officeart/2008/layout/LinedList"/>
    <dgm:cxn modelId="{7D6AC7F3-D5AA-488B-8465-C11484E6F0CE}" type="presParOf" srcId="{2703E43E-90CC-45F1-9D0F-2CF1519FB951}" destId="{077FD9E6-5C65-48C2-8947-D537F9D629F9}" srcOrd="1" destOrd="0" presId="urn:microsoft.com/office/officeart/2008/layout/LinedList"/>
    <dgm:cxn modelId="{4C92F1BD-6243-4B46-9B46-F386ED5148E7}" type="presParOf" srcId="{077FD9E6-5C65-48C2-8947-D537F9D629F9}" destId="{1DCB3702-EE22-4E6D-A7B1-CCF07F34C790}" srcOrd="0" destOrd="0" presId="urn:microsoft.com/office/officeart/2008/layout/LinedList"/>
    <dgm:cxn modelId="{6D8F10ED-E5FE-4BAE-8861-5FBF3ACF8060}" type="presParOf" srcId="{077FD9E6-5C65-48C2-8947-D537F9D629F9}" destId="{13A53D54-CF89-411B-A79B-586A88223724}" srcOrd="1" destOrd="0" presId="urn:microsoft.com/office/officeart/2008/layout/LinedList"/>
    <dgm:cxn modelId="{2BD8A4C8-82F2-4E5D-83C1-A410FA3FD915}" type="presParOf" srcId="{13A53D54-CF89-411B-A79B-586A88223724}" destId="{AAA8CCE6-D8DC-49B9-B142-E888D149BD00}" srcOrd="0" destOrd="0" presId="urn:microsoft.com/office/officeart/2008/layout/LinedList"/>
    <dgm:cxn modelId="{7D8EAC4A-2FB1-46A6-A276-60B6855FAB44}" type="presParOf" srcId="{13A53D54-CF89-411B-A79B-586A88223724}" destId="{75E91EC7-0A8B-4246-A4BF-366A0B8DC90D}" srcOrd="1" destOrd="0" presId="urn:microsoft.com/office/officeart/2008/layout/LinedList"/>
    <dgm:cxn modelId="{6A0BB15C-7000-4BBD-AADF-5884A0E54B4B}" type="presParOf" srcId="{75E91EC7-0A8B-4246-A4BF-366A0B8DC90D}" destId="{B2EC065D-5D5A-47D8-A387-EF840054881F}" srcOrd="0" destOrd="0" presId="urn:microsoft.com/office/officeart/2008/layout/LinedList"/>
    <dgm:cxn modelId="{A784B754-C7B4-4151-A044-741D29BA7F69}" type="presParOf" srcId="{75E91EC7-0A8B-4246-A4BF-366A0B8DC90D}" destId="{A9D43F51-846B-47A0-83F2-D5760C1BBBA8}" srcOrd="1" destOrd="0" presId="urn:microsoft.com/office/officeart/2008/layout/LinedList"/>
    <dgm:cxn modelId="{3E7D80E4-456D-47E6-95A9-DD83F6E7A563}" type="presParOf" srcId="{75E91EC7-0A8B-4246-A4BF-366A0B8DC90D}" destId="{B67BD1B3-09DE-481D-B84E-55F53901793A}" srcOrd="2" destOrd="0" presId="urn:microsoft.com/office/officeart/2008/layout/LinedList"/>
    <dgm:cxn modelId="{7527738C-8626-4229-8BAC-F2E4318E9A70}" type="presParOf" srcId="{13A53D54-CF89-411B-A79B-586A88223724}" destId="{EBBEE5E7-05E8-48E1-9D56-80232635F86D}" srcOrd="2" destOrd="0" presId="urn:microsoft.com/office/officeart/2008/layout/LinedList"/>
    <dgm:cxn modelId="{9CA9B829-BC11-4E22-9A9D-9EEAEA55227F}" type="presParOf" srcId="{13A53D54-CF89-411B-A79B-586A88223724}" destId="{BE79952F-EEBC-405B-A2F3-C1F82BC0B911}" srcOrd="3" destOrd="0" presId="urn:microsoft.com/office/officeart/2008/layout/LinedList"/>
    <dgm:cxn modelId="{9C5B1207-0FB9-464B-8789-29DB2C2CA696}" type="presParOf" srcId="{13A53D54-CF89-411B-A79B-586A88223724}" destId="{8A2AD15D-7196-4782-AD55-B3CE70B17D07}" srcOrd="4" destOrd="0" presId="urn:microsoft.com/office/officeart/2008/layout/LinedList"/>
    <dgm:cxn modelId="{F683845C-0B39-4F45-AE1C-6E0BB5F20E72}" type="presParOf" srcId="{8A2AD15D-7196-4782-AD55-B3CE70B17D07}" destId="{D846C499-F244-4AED-A332-B425A5FA3C96}" srcOrd="0" destOrd="0" presId="urn:microsoft.com/office/officeart/2008/layout/LinedList"/>
    <dgm:cxn modelId="{86C331FA-A87D-44E8-908A-07DCF4E5B645}" type="presParOf" srcId="{8A2AD15D-7196-4782-AD55-B3CE70B17D07}" destId="{98D3321E-94C8-4A3A-8B2C-1EE81B532BDD}" srcOrd="1" destOrd="0" presId="urn:microsoft.com/office/officeart/2008/layout/LinedList"/>
    <dgm:cxn modelId="{68261F5F-F585-4F8B-BCAF-B388FC29628A}" type="presParOf" srcId="{8A2AD15D-7196-4782-AD55-B3CE70B17D07}" destId="{90A5F57C-AD7A-43F4-8DD4-4B6D1C3137BD}" srcOrd="2" destOrd="0" presId="urn:microsoft.com/office/officeart/2008/layout/LinedList"/>
    <dgm:cxn modelId="{702E5523-5950-4A56-A9F7-76E1AB7FAD26}" type="presParOf" srcId="{13A53D54-CF89-411B-A79B-586A88223724}" destId="{FE585245-BF5E-4662-A578-D21533F49DB1}" srcOrd="5" destOrd="0" presId="urn:microsoft.com/office/officeart/2008/layout/LinedList"/>
    <dgm:cxn modelId="{A738166E-BC18-4381-A4CB-DD186834D59F}" type="presParOf" srcId="{13A53D54-CF89-411B-A79B-586A88223724}" destId="{4DC616BC-ED91-40B1-B77A-102DA686A35B}" srcOrd="6" destOrd="0" presId="urn:microsoft.com/office/officeart/2008/layout/LinedList"/>
    <dgm:cxn modelId="{B20E381B-7826-44A3-9E98-08E96DFAEFE2}" type="presParOf" srcId="{13A53D54-CF89-411B-A79B-586A88223724}" destId="{7D55BD2C-0CA0-4101-B4E0-D7C4431DE1AA}" srcOrd="7" destOrd="0" presId="urn:microsoft.com/office/officeart/2008/layout/LinedList"/>
    <dgm:cxn modelId="{FF68F6F8-28F9-49F6-84F5-6E132EEFE79A}" type="presParOf" srcId="{7D55BD2C-0CA0-4101-B4E0-D7C4431DE1AA}" destId="{D58C6341-AF23-4817-BEFA-3CB7B8851D69}" srcOrd="0" destOrd="0" presId="urn:microsoft.com/office/officeart/2008/layout/LinedList"/>
    <dgm:cxn modelId="{68382CA7-F6A2-4763-8FC1-CFE13D4C12DB}" type="presParOf" srcId="{7D55BD2C-0CA0-4101-B4E0-D7C4431DE1AA}" destId="{431EFF34-31ED-44F5-AEC6-4744D1F6C34C}" srcOrd="1" destOrd="0" presId="urn:microsoft.com/office/officeart/2008/layout/LinedList"/>
    <dgm:cxn modelId="{F3426193-1328-4400-B8D1-7EA130E05E7D}" type="presParOf" srcId="{7D55BD2C-0CA0-4101-B4E0-D7C4431DE1AA}" destId="{276D29E1-78A1-4D5E-B7D8-9ABF0A74486C}" srcOrd="2" destOrd="0" presId="urn:microsoft.com/office/officeart/2008/layout/LinedList"/>
    <dgm:cxn modelId="{DCD22BE4-B6B4-4BD8-BA52-CDEEF733CF94}" type="presParOf" srcId="{13A53D54-CF89-411B-A79B-586A88223724}" destId="{A13BEC32-0623-4200-8A8D-A56CC83C29CB}" srcOrd="8" destOrd="0" presId="urn:microsoft.com/office/officeart/2008/layout/LinedList"/>
    <dgm:cxn modelId="{099B74E5-7207-4887-9877-81AE3A9F4726}" type="presParOf" srcId="{13A53D54-CF89-411B-A79B-586A88223724}" destId="{438B7E7D-C430-463D-A49D-957464EA25B7}" srcOrd="9" destOrd="0" presId="urn:microsoft.com/office/officeart/2008/layout/LinedList"/>
    <dgm:cxn modelId="{5AFA7052-01AD-4ADB-B109-0C859553C671}" type="presParOf" srcId="{13A53D54-CF89-411B-A79B-586A88223724}" destId="{A14FF542-3166-4EB6-9567-F67E0C71FC3F}" srcOrd="10" destOrd="0" presId="urn:microsoft.com/office/officeart/2008/layout/LinedList"/>
    <dgm:cxn modelId="{BB47945E-1AA3-44F3-8BB7-CECA1EC64680}" type="presParOf" srcId="{A14FF542-3166-4EB6-9567-F67E0C71FC3F}" destId="{F3EBF104-4525-470F-A5B8-501536C2FA88}" srcOrd="0" destOrd="0" presId="urn:microsoft.com/office/officeart/2008/layout/LinedList"/>
    <dgm:cxn modelId="{D29B5B8F-8E6B-40DC-BF4F-28080B9BCA73}" type="presParOf" srcId="{A14FF542-3166-4EB6-9567-F67E0C71FC3F}" destId="{A2975A14-B93D-49A9-AB4E-13A7E8A89068}" srcOrd="1" destOrd="0" presId="urn:microsoft.com/office/officeart/2008/layout/LinedList"/>
    <dgm:cxn modelId="{B480FBB0-D758-41DC-8487-9C5F01DCF75E}" type="presParOf" srcId="{A14FF542-3166-4EB6-9567-F67E0C71FC3F}" destId="{DD501A39-F369-4903-B0FA-045E33BAC8AE}" srcOrd="2" destOrd="0" presId="urn:microsoft.com/office/officeart/2008/layout/LinedList"/>
    <dgm:cxn modelId="{762622DF-1700-41CD-8E9A-59626675B580}" type="presParOf" srcId="{13A53D54-CF89-411B-A79B-586A88223724}" destId="{8723634C-D783-4DFA-8E6B-290CF4B11D7A}" srcOrd="11" destOrd="0" presId="urn:microsoft.com/office/officeart/2008/layout/LinedList"/>
    <dgm:cxn modelId="{3C5BF54D-373A-4E9D-B2A7-01B886E83586}" type="presParOf" srcId="{13A53D54-CF89-411B-A79B-586A88223724}" destId="{37E12BC2-70EF-4059-82FC-52CBD7A19881}" srcOrd="12" destOrd="0" presId="urn:microsoft.com/office/officeart/2008/layout/LinedList"/>
    <dgm:cxn modelId="{5674B2CE-064E-4FFC-AFD8-839B43A434F0}" type="presParOf" srcId="{13A53D54-CF89-411B-A79B-586A88223724}" destId="{474D4622-FA5B-4795-8264-3312693B6C50}" srcOrd="13" destOrd="0" presId="urn:microsoft.com/office/officeart/2008/layout/LinedList"/>
    <dgm:cxn modelId="{09E69CFD-0673-44E7-9DC9-A4827B562A3E}" type="presParOf" srcId="{474D4622-FA5B-4795-8264-3312693B6C50}" destId="{C07A1D68-7E8F-44A0-86D8-F00D059C02FB}" srcOrd="0" destOrd="0" presId="urn:microsoft.com/office/officeart/2008/layout/LinedList"/>
    <dgm:cxn modelId="{B43B03A7-78D0-4749-ABE4-D9BD95962D32}" type="presParOf" srcId="{474D4622-FA5B-4795-8264-3312693B6C50}" destId="{82DF4D73-7710-40B2-9B9B-38AA3D92E1F4}" srcOrd="1" destOrd="0" presId="urn:microsoft.com/office/officeart/2008/layout/LinedList"/>
    <dgm:cxn modelId="{FB9F00A8-CDAC-4D1E-8221-71BE487BFCD4}" type="presParOf" srcId="{474D4622-FA5B-4795-8264-3312693B6C50}" destId="{C3980205-386A-4FAE-8982-66E2A320F0D4}" srcOrd="2" destOrd="0" presId="urn:microsoft.com/office/officeart/2008/layout/LinedList"/>
    <dgm:cxn modelId="{BA514018-4C84-496E-861B-D1AB7555C2B8}" type="presParOf" srcId="{13A53D54-CF89-411B-A79B-586A88223724}" destId="{F43A2EE7-7F57-47C2-B8C6-26967FFFFADB}" srcOrd="14" destOrd="0" presId="urn:microsoft.com/office/officeart/2008/layout/LinedList"/>
    <dgm:cxn modelId="{ADD78BE5-2E54-428C-8E3C-1A1DF28A3755}" type="presParOf" srcId="{13A53D54-CF89-411B-A79B-586A88223724}" destId="{C39407A2-0078-4C68-BAC3-BE57B55E02C6}" srcOrd="15" destOrd="0" presId="urn:microsoft.com/office/officeart/2008/layout/LinedList"/>
    <dgm:cxn modelId="{A90FA160-FFDD-4205-88FF-C5DAD2329D66}" type="presParOf" srcId="{13A53D54-CF89-411B-A79B-586A88223724}" destId="{385D4E27-F85A-4ED5-99E7-2E6D7ADDF01D}" srcOrd="16" destOrd="0" presId="urn:microsoft.com/office/officeart/2008/layout/LinedList"/>
    <dgm:cxn modelId="{15CA74F2-434B-4526-BF02-C4362323FF9D}" type="presParOf" srcId="{385D4E27-F85A-4ED5-99E7-2E6D7ADDF01D}" destId="{F1BE4F71-2485-4A88-A674-6B1F2A5B50B5}" srcOrd="0" destOrd="0" presId="urn:microsoft.com/office/officeart/2008/layout/LinedList"/>
    <dgm:cxn modelId="{76E7369B-CD1B-4A69-B208-9E73E052FC34}" type="presParOf" srcId="{385D4E27-F85A-4ED5-99E7-2E6D7ADDF01D}" destId="{754AA2CD-8C00-41E3-A4C3-4C8419AD87D8}" srcOrd="1" destOrd="0" presId="urn:microsoft.com/office/officeart/2008/layout/LinedList"/>
    <dgm:cxn modelId="{73C1B4BE-1A75-47E0-8153-1E4880087E4D}" type="presParOf" srcId="{385D4E27-F85A-4ED5-99E7-2E6D7ADDF01D}" destId="{D02449FB-C0F4-4BC6-86F8-EFEE2654BBA4}" srcOrd="2" destOrd="0" presId="urn:microsoft.com/office/officeart/2008/layout/LinedList"/>
    <dgm:cxn modelId="{4AAA8873-6D89-4353-8A3E-23A265E5A619}" type="presParOf" srcId="{13A53D54-CF89-411B-A79B-586A88223724}" destId="{4AF5C35D-6D37-4588-82FD-E3ED4582D5EB}" srcOrd="17" destOrd="0" presId="urn:microsoft.com/office/officeart/2008/layout/LinedList"/>
    <dgm:cxn modelId="{16D47FD1-0BCA-4D6C-9083-CA0D28211413}" type="presParOf" srcId="{13A53D54-CF89-411B-A79B-586A88223724}" destId="{4D0AE3B5-874A-41FC-9B90-A77F32114C6A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89960-2A79-41BA-92E4-AD4C0F2C6551}">
      <dsp:nvSpPr>
        <dsp:cNvPr id="0" name=""/>
        <dsp:cNvSpPr/>
      </dsp:nvSpPr>
      <dsp:spPr>
        <a:xfrm>
          <a:off x="0" y="0"/>
          <a:ext cx="713764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CB3702-EE22-4E6D-A7B1-CCF07F34C790}">
      <dsp:nvSpPr>
        <dsp:cNvPr id="0" name=""/>
        <dsp:cNvSpPr/>
      </dsp:nvSpPr>
      <dsp:spPr>
        <a:xfrm>
          <a:off x="0" y="0"/>
          <a:ext cx="2145472" cy="2308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CRF</a:t>
          </a:r>
          <a:r>
            <a:rPr lang="zh-CN" sz="2000" kern="1200" dirty="0"/>
            <a:t>表单类型</a:t>
          </a:r>
        </a:p>
      </dsp:txBody>
      <dsp:txXfrm>
        <a:off x="0" y="0"/>
        <a:ext cx="2145472" cy="2308324"/>
      </dsp:txXfrm>
    </dsp:sp>
    <dsp:sp modelId="{A9D43F51-846B-47A0-83F2-D5760C1BBBA8}">
      <dsp:nvSpPr>
        <dsp:cNvPr id="0" name=""/>
        <dsp:cNvSpPr/>
      </dsp:nvSpPr>
      <dsp:spPr>
        <a:xfrm>
          <a:off x="2239049" y="18174"/>
          <a:ext cx="4897199" cy="363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常规</a:t>
          </a:r>
          <a:r>
            <a:rPr lang="zh-CN" sz="1500" kern="1200" dirty="0"/>
            <a:t>表单</a:t>
          </a:r>
        </a:p>
      </dsp:txBody>
      <dsp:txXfrm>
        <a:off x="2239049" y="18174"/>
        <a:ext cx="4897199" cy="363493"/>
      </dsp:txXfrm>
    </dsp:sp>
    <dsp:sp modelId="{EBBEE5E7-05E8-48E1-9D56-80232635F86D}">
      <dsp:nvSpPr>
        <dsp:cNvPr id="0" name=""/>
        <dsp:cNvSpPr/>
      </dsp:nvSpPr>
      <dsp:spPr>
        <a:xfrm>
          <a:off x="2145472" y="381668"/>
          <a:ext cx="49907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8D3321E-94C8-4A3A-8B2C-1EE81B532BDD}">
      <dsp:nvSpPr>
        <dsp:cNvPr id="0" name=""/>
        <dsp:cNvSpPr/>
      </dsp:nvSpPr>
      <dsp:spPr>
        <a:xfrm>
          <a:off x="2239049" y="399842"/>
          <a:ext cx="4897199" cy="363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 dirty="0"/>
            <a:t>可添加行表单（</a:t>
          </a:r>
          <a:r>
            <a:rPr lang="en-US" sz="1500" kern="1200" dirty="0"/>
            <a:t>3</a:t>
          </a:r>
          <a:r>
            <a:rPr lang="zh-CN" sz="1500" kern="1200" dirty="0"/>
            <a:t>列式）</a:t>
          </a:r>
          <a:r>
            <a:rPr lang="en-US" altLang="zh-CN" sz="1500" kern="1200" dirty="0"/>
            <a:t>       </a:t>
          </a:r>
          <a:r>
            <a:rPr lang="zh-CN" altLang="en-US" sz="1500" kern="1200" dirty="0"/>
            <a:t>标识符：</a:t>
          </a:r>
          <a:r>
            <a:rPr lang="en-US" altLang="zh-CN" sz="1500" kern="1200" dirty="0">
              <a:solidFill>
                <a:srgbClr val="FF0000"/>
              </a:solidFill>
            </a:rPr>
            <a:t>ADD1</a:t>
          </a:r>
          <a:endParaRPr lang="zh-CN" sz="1500" kern="1200" dirty="0">
            <a:solidFill>
              <a:srgbClr val="FF0000"/>
            </a:solidFill>
          </a:endParaRPr>
        </a:p>
      </dsp:txBody>
      <dsp:txXfrm>
        <a:off x="2239049" y="399842"/>
        <a:ext cx="4897199" cy="363493"/>
      </dsp:txXfrm>
    </dsp:sp>
    <dsp:sp modelId="{FE585245-BF5E-4662-A578-D21533F49DB1}">
      <dsp:nvSpPr>
        <dsp:cNvPr id="0" name=""/>
        <dsp:cNvSpPr/>
      </dsp:nvSpPr>
      <dsp:spPr>
        <a:xfrm>
          <a:off x="2145472" y="763336"/>
          <a:ext cx="49907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31EFF34-31ED-44F5-AEC6-4744D1F6C34C}">
      <dsp:nvSpPr>
        <dsp:cNvPr id="0" name=""/>
        <dsp:cNvSpPr/>
      </dsp:nvSpPr>
      <dsp:spPr>
        <a:xfrm>
          <a:off x="2239049" y="781510"/>
          <a:ext cx="4897199" cy="363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 dirty="0"/>
            <a:t>可添加行表单（多列式）</a:t>
          </a:r>
          <a:r>
            <a:rPr lang="en-US" altLang="zh-CN" sz="1500" kern="1200" dirty="0"/>
            <a:t>     </a:t>
          </a:r>
          <a:r>
            <a:rPr lang="zh-CN" altLang="en-US" sz="1500" kern="1200" dirty="0"/>
            <a:t>标识符：</a:t>
          </a:r>
          <a:r>
            <a:rPr lang="en-US" altLang="zh-CN" sz="1500" kern="1200" dirty="0">
              <a:solidFill>
                <a:srgbClr val="FF0000"/>
              </a:solidFill>
            </a:rPr>
            <a:t>ADD2</a:t>
          </a:r>
          <a:endParaRPr lang="zh-CN" sz="1500" kern="1200" dirty="0">
            <a:solidFill>
              <a:srgbClr val="FF0000"/>
            </a:solidFill>
          </a:endParaRPr>
        </a:p>
      </dsp:txBody>
      <dsp:txXfrm>
        <a:off x="2239049" y="781510"/>
        <a:ext cx="4897199" cy="363493"/>
      </dsp:txXfrm>
    </dsp:sp>
    <dsp:sp modelId="{A13BEC32-0623-4200-8A8D-A56CC83C29CB}">
      <dsp:nvSpPr>
        <dsp:cNvPr id="0" name=""/>
        <dsp:cNvSpPr/>
      </dsp:nvSpPr>
      <dsp:spPr>
        <a:xfrm>
          <a:off x="2145472" y="1145004"/>
          <a:ext cx="49907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2975A14-B93D-49A9-AB4E-13A7E8A89068}">
      <dsp:nvSpPr>
        <dsp:cNvPr id="0" name=""/>
        <dsp:cNvSpPr/>
      </dsp:nvSpPr>
      <dsp:spPr>
        <a:xfrm>
          <a:off x="2239049" y="1163178"/>
          <a:ext cx="4897199" cy="363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 dirty="0"/>
            <a:t>固定行表单（</a:t>
          </a:r>
          <a:r>
            <a:rPr lang="en-US" sz="1500" kern="1200" dirty="0"/>
            <a:t>3</a:t>
          </a:r>
          <a:r>
            <a:rPr lang="zh-CN" sz="1500" kern="1200" dirty="0"/>
            <a:t>列式）</a:t>
          </a:r>
          <a:r>
            <a:rPr lang="en-US" altLang="zh-CN" sz="1500" kern="1200" dirty="0"/>
            <a:t>           </a:t>
          </a:r>
          <a:r>
            <a:rPr lang="zh-CN" altLang="en-US" sz="1500" kern="1200" dirty="0"/>
            <a:t>标识符：</a:t>
          </a:r>
          <a:r>
            <a:rPr lang="en-US" altLang="zh-CN" sz="1500" kern="1200" dirty="0">
              <a:solidFill>
                <a:srgbClr val="FF0000"/>
              </a:solidFill>
            </a:rPr>
            <a:t>FIX1</a:t>
          </a:r>
          <a:endParaRPr lang="zh-CN" sz="1500" kern="1200" dirty="0">
            <a:solidFill>
              <a:srgbClr val="FF0000"/>
            </a:solidFill>
          </a:endParaRPr>
        </a:p>
      </dsp:txBody>
      <dsp:txXfrm>
        <a:off x="2239049" y="1163178"/>
        <a:ext cx="4897199" cy="363493"/>
      </dsp:txXfrm>
    </dsp:sp>
    <dsp:sp modelId="{8723634C-D783-4DFA-8E6B-290CF4B11D7A}">
      <dsp:nvSpPr>
        <dsp:cNvPr id="0" name=""/>
        <dsp:cNvSpPr/>
      </dsp:nvSpPr>
      <dsp:spPr>
        <a:xfrm>
          <a:off x="2145472" y="1526672"/>
          <a:ext cx="49907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2DF4D73-7710-40B2-9B9B-38AA3D92E1F4}">
      <dsp:nvSpPr>
        <dsp:cNvPr id="0" name=""/>
        <dsp:cNvSpPr/>
      </dsp:nvSpPr>
      <dsp:spPr>
        <a:xfrm>
          <a:off x="2239049" y="1544846"/>
          <a:ext cx="4897199" cy="363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 dirty="0"/>
            <a:t>固定行表单（多列式）</a:t>
          </a:r>
          <a:r>
            <a:rPr lang="en-US" altLang="zh-CN" sz="1500" kern="1200" dirty="0"/>
            <a:t>          </a:t>
          </a:r>
          <a:r>
            <a:rPr lang="zh-CN" altLang="en-US" sz="1500" kern="1200" dirty="0"/>
            <a:t>标识符：</a:t>
          </a:r>
          <a:r>
            <a:rPr lang="en-US" altLang="zh-CN" sz="1500" kern="1200" dirty="0">
              <a:solidFill>
                <a:srgbClr val="FF0000"/>
              </a:solidFill>
            </a:rPr>
            <a:t>FIX2</a:t>
          </a:r>
          <a:endParaRPr lang="zh-CN" sz="1500" kern="1200" dirty="0">
            <a:solidFill>
              <a:srgbClr val="FF0000"/>
            </a:solidFill>
          </a:endParaRPr>
        </a:p>
      </dsp:txBody>
      <dsp:txXfrm>
        <a:off x="2239049" y="1544846"/>
        <a:ext cx="4897199" cy="363493"/>
      </dsp:txXfrm>
    </dsp:sp>
    <dsp:sp modelId="{F43A2EE7-7F57-47C2-B8C6-26967FFFFADB}">
      <dsp:nvSpPr>
        <dsp:cNvPr id="0" name=""/>
        <dsp:cNvSpPr/>
      </dsp:nvSpPr>
      <dsp:spPr>
        <a:xfrm>
          <a:off x="2145472" y="1908340"/>
          <a:ext cx="49907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54AA2CD-8C00-41E3-A4C3-4C8419AD87D8}">
      <dsp:nvSpPr>
        <dsp:cNvPr id="0" name=""/>
        <dsp:cNvSpPr/>
      </dsp:nvSpPr>
      <dsp:spPr>
        <a:xfrm>
          <a:off x="2239049" y="1926515"/>
          <a:ext cx="4897199" cy="363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LAB</a:t>
          </a:r>
          <a:r>
            <a:rPr lang="zh-CN" sz="1500" kern="1200" dirty="0"/>
            <a:t>表单</a:t>
          </a:r>
          <a:r>
            <a:rPr lang="en-US" altLang="zh-CN" sz="1500" kern="1200" dirty="0"/>
            <a:t> 		        </a:t>
          </a:r>
          <a:r>
            <a:rPr lang="zh-CN" altLang="en-US" sz="1500" kern="1200" dirty="0"/>
            <a:t>标识符：</a:t>
          </a:r>
          <a:r>
            <a:rPr lang="en-US" altLang="zh-CN" sz="1500" kern="1200" dirty="0">
              <a:solidFill>
                <a:srgbClr val="FF0000"/>
              </a:solidFill>
            </a:rPr>
            <a:t>LAB2</a:t>
          </a:r>
          <a:endParaRPr lang="zh-CN" sz="1500" kern="1200" dirty="0">
            <a:solidFill>
              <a:srgbClr val="FF0000"/>
            </a:solidFill>
          </a:endParaRPr>
        </a:p>
      </dsp:txBody>
      <dsp:txXfrm>
        <a:off x="2239049" y="1926515"/>
        <a:ext cx="4897199" cy="363493"/>
      </dsp:txXfrm>
    </dsp:sp>
    <dsp:sp modelId="{4AF5C35D-6D37-4588-82FD-E3ED4582D5EB}">
      <dsp:nvSpPr>
        <dsp:cNvPr id="0" name=""/>
        <dsp:cNvSpPr/>
      </dsp:nvSpPr>
      <dsp:spPr>
        <a:xfrm>
          <a:off x="2145472" y="2290008"/>
          <a:ext cx="49907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32F0C-B488-4573-AAA7-1B46864DE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64B86F-C16A-437A-A966-3EF62C4B6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ACCD17-9D4F-4021-94D8-696F232B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492259-050D-4B87-ADB6-3D99EFFC7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486A0D-AA7C-4E1B-B1B4-8EA7AB2D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03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BA898-5B7E-4395-B042-B911F478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612883-CDCB-4CB4-A434-DF06A9CAF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79218C-40F6-41EA-A352-75DC7BB25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A215B7-7FCD-43A9-802C-69CFCCED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65557F-DFC8-461B-8854-C4E511C8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90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3E65C-162E-452E-BACD-F92FE3F5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79A38F-911D-4221-8FF3-B4BE354F2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5824D7-DCB6-4EB5-B6D1-31170079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EC830-B405-4485-8127-D76F1FE3C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F079BE-A44F-4166-981B-15EBF6B6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98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7F553-F76B-4739-9D48-AB159537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5A657-6D18-4F7D-B628-76936CB6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B373AE-C632-458E-AFDA-E8DFA1022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F20A5F-C82C-4344-9FEF-30420043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482F58-AB42-4555-A4A4-A3379DCA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1B998F-6BD4-4DEC-B658-D61D6DCC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23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C11A6-9F35-4BF3-80DB-04287858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D15DF2-A50F-4250-83C5-F2F4EF479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2F76DF-1BD0-4074-A31A-E8308B1A4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35B2FE-8918-485E-8765-F5758B43C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1BEAE8-D695-4C53-B8BA-DD00A2C25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BA08E2-82D2-43DB-BDAD-6AFC7060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232054-72FD-482C-8A94-D58BF88F3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46F5B1-3461-4FF7-AF37-23498AC4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82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864F2-1AF1-4A80-91BE-3D49CFCB6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EC74AE-C816-413B-87BC-B81731F2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F5E8C5-D917-4631-BFA5-B392B235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7949FF-B6E3-4E4C-807E-2882F4B5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72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DD31A2-FAA4-42BE-AE99-C218750C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6A82D7-67E0-4DA6-BCA1-20FAA8DC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0BD963-9B1F-4470-B59A-3A9D80E8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61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1896D-1F2B-44FC-8590-849F6122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F6718-448E-4FBA-9745-882B28E9D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392794-468F-483D-B1DB-2D04D69E3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B1497D-1B7D-4290-A81D-AC549F79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A59A52-A7B5-4554-A879-5AA13D5C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CF62E-57B5-4DFA-B422-C67902A0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44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11C58-E298-4257-91B7-9683D0B7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4C4995-9A04-4DDB-811D-4B2D143C9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4C0B32-6465-4CC0-B86C-AD4307C96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3EFEC1-3915-4107-9D2A-4C93CD9C2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6169E-82A6-497B-AE1D-EED679EFC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FEDC39-40F0-4F5E-AEDC-C8E11A72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16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391EC-48A7-4934-B32F-BC7FF7600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E7BB42-847F-4958-A649-712BAF4BA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6EA5EA-7FD8-48AB-868F-318E0F08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579EEA-24F4-4900-8A80-AE1B3D4B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60AD86-A5C1-41BE-ADA9-894AF3DD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49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AFB5E1-4BE8-4DE0-BF0A-506FB3597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80E67A-73E9-44CA-B438-6E9D3228C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68A598-6383-4C9E-9358-EA66BA05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AB6695-0877-4CF5-BD5D-D55C6ECFB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E5AD8B-A241-4578-AB3B-FA762177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00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3488F8-6997-4A06-B619-25AF7DAC9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787491-76FE-4457-B717-6F3913917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341A0-A964-4A38-A464-FC727D0CF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95F8B-FED6-4215-A0D7-A5BC31F61F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5532FA-4F6F-420A-9458-A79CBD12C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B3C7B4-5F82-4194-A5F2-721004220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2F8C0-8FB8-4632-AED6-129BE2B0B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87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6">
            <a:extLst>
              <a:ext uri="{FF2B5EF4-FFF2-40B4-BE49-F238E27FC236}">
                <a16:creationId xmlns:a16="http://schemas.microsoft.com/office/drawing/2014/main" id="{4A2FC704-29AF-4B86-8C5B-EDE8BB79C217}"/>
              </a:ext>
            </a:extLst>
          </p:cNvPr>
          <p:cNvSpPr txBox="1">
            <a:spLocks/>
          </p:cNvSpPr>
          <p:nvPr/>
        </p:nvSpPr>
        <p:spPr>
          <a:xfrm>
            <a:off x="382220" y="471280"/>
            <a:ext cx="7685967" cy="7206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Rave Studio</a:t>
            </a:r>
            <a:r>
              <a:rPr lang="zh-CN" altLang="en-US" dirty="0"/>
              <a:t>使用指南</a:t>
            </a:r>
          </a:p>
        </p:txBody>
      </p:sp>
    </p:spTree>
    <p:extLst>
      <p:ext uri="{BB962C8B-B14F-4D97-AF65-F5344CB8AC3E}">
        <p14:creationId xmlns:p14="http://schemas.microsoft.com/office/powerpoint/2010/main" val="336417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0CE6164-0FDB-4586-9ABE-EA2ADBF7C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12" y="1126560"/>
            <a:ext cx="6517382" cy="3960942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D8AABBC-8353-4962-9DA1-04E390E0F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690912"/>
              </p:ext>
            </p:extLst>
          </p:nvPr>
        </p:nvGraphicFramePr>
        <p:xfrm>
          <a:off x="7169833" y="1126559"/>
          <a:ext cx="4343014" cy="4835339"/>
        </p:xfrm>
        <a:graphic>
          <a:graphicData uri="http://schemas.openxmlformats.org/drawingml/2006/table">
            <a:tbl>
              <a:tblPr/>
              <a:tblGrid>
                <a:gridCol w="1297068">
                  <a:extLst>
                    <a:ext uri="{9D8B030D-6E8A-4147-A177-3AD203B41FA5}">
                      <a16:colId xmlns:a16="http://schemas.microsoft.com/office/drawing/2014/main" val="1812943533"/>
                    </a:ext>
                  </a:extLst>
                </a:gridCol>
                <a:gridCol w="3045946">
                  <a:extLst>
                    <a:ext uri="{9D8B030D-6E8A-4147-A177-3AD203B41FA5}">
                      <a16:colId xmlns:a16="http://schemas.microsoft.com/office/drawing/2014/main" val="2788656708"/>
                    </a:ext>
                  </a:extLst>
                </a:gridCol>
              </a:tblGrid>
              <a:tr h="25546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字段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>
                          <a:effectLst/>
                        </a:rPr>
                        <a:t>说明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7596631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effectLst/>
                        </a:rPr>
                        <a:t>选择配置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effectLst/>
                        </a:rPr>
                        <a:t>下拉选择已保存的 </a:t>
                      </a:r>
                      <a:r>
                        <a:rPr lang="en-US" altLang="zh-CN" sz="1200" dirty="0">
                          <a:effectLst/>
                        </a:rPr>
                        <a:t>AI </a:t>
                      </a:r>
                      <a:r>
                        <a:rPr lang="zh-CN" altLang="en-US" sz="1200" dirty="0">
                          <a:effectLst/>
                        </a:rPr>
                        <a:t>服务配置；点击</a:t>
                      </a:r>
                      <a:r>
                        <a:rPr lang="zh-CN" altLang="en-US" sz="1200" b="1" dirty="0">
                          <a:effectLst/>
                        </a:rPr>
                        <a:t>新增</a:t>
                      </a:r>
                      <a:r>
                        <a:rPr lang="zh-CN" altLang="en-US" sz="1200" dirty="0">
                          <a:effectLst/>
                        </a:rPr>
                        <a:t>创建全新配置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678926"/>
                  </a:ext>
                </a:extLst>
              </a:tr>
              <a:tr h="64260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配置名称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effectLst/>
                        </a:rPr>
                        <a:t>自定义命名，用于区分多套配置（例：公司 </a:t>
                      </a:r>
                      <a:r>
                        <a:rPr lang="en-US" altLang="zh-CN" sz="1200" dirty="0">
                          <a:effectLst/>
                        </a:rPr>
                        <a:t>- </a:t>
                      </a:r>
                      <a:r>
                        <a:rPr lang="zh-CN" altLang="en-US" sz="1200" dirty="0">
                          <a:effectLst/>
                        </a:rPr>
                        <a:t>硅基流动 </a:t>
                      </a:r>
                      <a:r>
                        <a:rPr lang="en-US" altLang="zh-CN" sz="1200" dirty="0">
                          <a:effectLst/>
                        </a:rPr>
                        <a:t>- GLM5.2</a:t>
                      </a:r>
                      <a:r>
                        <a:rPr lang="zh-CN" altLang="en-US" sz="1200" dirty="0">
                          <a:effectLst/>
                        </a:rPr>
                        <a:t>）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7896"/>
                  </a:ext>
                </a:extLst>
              </a:tr>
              <a:tr h="44409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服务地址 </a:t>
                      </a:r>
                      <a:r>
                        <a:rPr lang="en-US" sz="1200">
                          <a:effectLst/>
                        </a:rPr>
                        <a:t>URL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大模型 </a:t>
                      </a:r>
                      <a:r>
                        <a:rPr lang="en-US" altLang="zh-CN" sz="1200">
                          <a:effectLst/>
                        </a:rPr>
                        <a:t>API </a:t>
                      </a:r>
                      <a:r>
                        <a:rPr lang="zh-CN" altLang="en-US" sz="1200">
                          <a:effectLst/>
                        </a:rPr>
                        <a:t>接口地址，一般为</a:t>
                      </a:r>
                      <a:r>
                        <a:rPr lang="en-US" altLang="zh-CN" sz="1200">
                          <a:effectLst/>
                        </a:rPr>
                        <a:t>/v1</a:t>
                      </a:r>
                      <a:r>
                        <a:rPr lang="zh-CN" altLang="en-US" sz="1200">
                          <a:effectLst/>
                        </a:rPr>
                        <a:t>结尾的地址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4566"/>
                  </a:ext>
                </a:extLst>
              </a:tr>
              <a:tr h="38453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模型 </a:t>
                      </a:r>
                      <a:r>
                        <a:rPr lang="en-US" sz="1200">
                          <a:effectLst/>
                        </a:rPr>
                        <a:t>Model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模型标识，对应 </a:t>
                      </a:r>
                      <a:r>
                        <a:rPr lang="en-US" altLang="zh-CN" sz="1200">
                          <a:effectLst/>
                        </a:rPr>
                        <a:t>API </a:t>
                      </a:r>
                      <a:r>
                        <a:rPr lang="zh-CN" altLang="en-US" sz="1200">
                          <a:effectLst/>
                        </a:rPr>
                        <a:t>服务指定的模型名称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547316"/>
                  </a:ext>
                </a:extLst>
              </a:tr>
              <a:tr h="285277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API Key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接口鉴权密钥，输入后自动隐藏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514188"/>
                  </a:ext>
                </a:extLst>
              </a:tr>
              <a:tr h="46394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批次大小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effectLst/>
                        </a:rPr>
                        <a:t>批量 </a:t>
                      </a:r>
                      <a:r>
                        <a:rPr lang="en-US" altLang="zh-CN" sz="1200" dirty="0">
                          <a:effectLst/>
                        </a:rPr>
                        <a:t>AI </a:t>
                      </a:r>
                      <a:r>
                        <a:rPr lang="zh-CN" altLang="en-US" sz="1200" dirty="0">
                          <a:effectLst/>
                        </a:rPr>
                        <a:t>任务单次处理数量，默认 </a:t>
                      </a:r>
                      <a:r>
                        <a:rPr lang="en-US" altLang="zh-CN" sz="1200" dirty="0">
                          <a:effectLst/>
                        </a:rPr>
                        <a:t>20</a:t>
                      </a:r>
                      <a:r>
                        <a:rPr lang="zh-CN" altLang="en-US" sz="1200" dirty="0">
                          <a:effectLst/>
                        </a:rPr>
                        <a:t>，可按需调整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70980"/>
                  </a:ext>
                </a:extLst>
              </a:tr>
              <a:tr h="46394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应用当前配置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立即启用页面填写的配置，生效后后续 </a:t>
                      </a:r>
                      <a:r>
                        <a:rPr lang="en-US" altLang="zh-CN" sz="1200" dirty="0"/>
                        <a:t>AI </a:t>
                      </a:r>
                      <a:r>
                        <a:rPr lang="zh-CN" altLang="en-US" sz="1200" dirty="0"/>
                        <a:t>请求直接使用该配置。</a:t>
                      </a: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83654"/>
                  </a:ext>
                </a:extLst>
              </a:tr>
              <a:tr h="46394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保存当前配置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将当前页面参数保存为配置项，存入下拉列表，方便后续直接选择复用。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7300"/>
                  </a:ext>
                </a:extLst>
              </a:tr>
              <a:tr h="46394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测试连接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使用当前填写参数发起连通性测试，校验 </a:t>
                      </a:r>
                      <a:r>
                        <a:rPr lang="en-US" altLang="zh-CN" sz="1200" dirty="0"/>
                        <a:t>URL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 err="1"/>
                        <a:t>APIKey</a:t>
                      </a:r>
                      <a:r>
                        <a:rPr lang="zh-CN" altLang="en-US" sz="1200" dirty="0"/>
                        <a:t>、模型是否可用。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92213"/>
                  </a:ext>
                </a:extLst>
              </a:tr>
              <a:tr h="46394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测试连接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删除下拉选中的配置（谨慎操作，删除后不可恢复）。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5773" marR="5773" marT="5773" marB="5773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038762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85284B82-865A-4EF1-BD71-C1E55C9A4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734" y="1144970"/>
            <a:ext cx="2306660" cy="51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22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6">
            <a:extLst>
              <a:ext uri="{FF2B5EF4-FFF2-40B4-BE49-F238E27FC236}">
                <a16:creationId xmlns:a16="http://schemas.microsoft.com/office/drawing/2014/main" id="{A43A733C-C3C5-43D9-9D08-3B6BF2660F88}"/>
              </a:ext>
            </a:extLst>
          </p:cNvPr>
          <p:cNvSpPr txBox="1">
            <a:spLocks/>
          </p:cNvSpPr>
          <p:nvPr/>
        </p:nvSpPr>
        <p:spPr>
          <a:xfrm>
            <a:off x="541780" y="962233"/>
            <a:ext cx="7685967" cy="7206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CRF</a:t>
            </a:r>
            <a:r>
              <a:rPr lang="zh-CN" altLang="en-US" dirty="0"/>
              <a:t>快速建库使用指南</a:t>
            </a:r>
          </a:p>
        </p:txBody>
      </p:sp>
    </p:spTree>
    <p:extLst>
      <p:ext uri="{BB962C8B-B14F-4D97-AF65-F5344CB8AC3E}">
        <p14:creationId xmlns:p14="http://schemas.microsoft.com/office/powerpoint/2010/main" val="423270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CDADA95-0904-4086-ADF2-98FEDA058593}"/>
              </a:ext>
            </a:extLst>
          </p:cNvPr>
          <p:cNvSpPr txBox="1"/>
          <p:nvPr/>
        </p:nvSpPr>
        <p:spPr>
          <a:xfrm>
            <a:off x="452761" y="266330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Rave</a:t>
            </a:r>
            <a:r>
              <a:rPr lang="zh-CN" altLang="en-US" dirty="0"/>
              <a:t>系统需要的字段格式要求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E85E7E4-565B-464A-A32F-ACF66B89D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05055"/>
              </p:ext>
            </p:extLst>
          </p:nvPr>
        </p:nvGraphicFramePr>
        <p:xfrm>
          <a:off x="2335596" y="917345"/>
          <a:ext cx="8293899" cy="5287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545704">
                  <a:extLst>
                    <a:ext uri="{9D8B030D-6E8A-4147-A177-3AD203B41FA5}">
                      <a16:colId xmlns:a16="http://schemas.microsoft.com/office/drawing/2014/main" val="3721701292"/>
                    </a:ext>
                  </a:extLst>
                </a:gridCol>
                <a:gridCol w="1487407">
                  <a:extLst>
                    <a:ext uri="{9D8B030D-6E8A-4147-A177-3AD203B41FA5}">
                      <a16:colId xmlns:a16="http://schemas.microsoft.com/office/drawing/2014/main" val="4262832131"/>
                    </a:ext>
                  </a:extLst>
                </a:gridCol>
                <a:gridCol w="764512">
                  <a:extLst>
                    <a:ext uri="{9D8B030D-6E8A-4147-A177-3AD203B41FA5}">
                      <a16:colId xmlns:a16="http://schemas.microsoft.com/office/drawing/2014/main" val="1926222453"/>
                    </a:ext>
                  </a:extLst>
                </a:gridCol>
                <a:gridCol w="896368">
                  <a:extLst>
                    <a:ext uri="{9D8B030D-6E8A-4147-A177-3AD203B41FA5}">
                      <a16:colId xmlns:a16="http://schemas.microsoft.com/office/drawing/2014/main" val="3102909958"/>
                    </a:ext>
                  </a:extLst>
                </a:gridCol>
                <a:gridCol w="1295345">
                  <a:extLst>
                    <a:ext uri="{9D8B030D-6E8A-4147-A177-3AD203B41FA5}">
                      <a16:colId xmlns:a16="http://schemas.microsoft.com/office/drawing/2014/main" val="1595826637"/>
                    </a:ext>
                  </a:extLst>
                </a:gridCol>
                <a:gridCol w="444194">
                  <a:extLst>
                    <a:ext uri="{9D8B030D-6E8A-4147-A177-3AD203B41FA5}">
                      <a16:colId xmlns:a16="http://schemas.microsoft.com/office/drawing/2014/main" val="3444991520"/>
                    </a:ext>
                  </a:extLst>
                </a:gridCol>
                <a:gridCol w="1860369">
                  <a:extLst>
                    <a:ext uri="{9D8B030D-6E8A-4147-A177-3AD203B41FA5}">
                      <a16:colId xmlns:a16="http://schemas.microsoft.com/office/drawing/2014/main" val="2102527576"/>
                    </a:ext>
                  </a:extLst>
                </a:gridCol>
              </a:tblGrid>
              <a:tr h="279158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r>
                        <a:rPr lang="zh-CN" altLang="en-US" sz="1100" dirty="0"/>
                        <a:t>格式举例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06350035"/>
                  </a:ext>
                </a:extLst>
              </a:tr>
              <a:tr h="283988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文本框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100" dirty="0"/>
                        <a:t>Text[$10]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100" dirty="0"/>
                        <a:t>Text[4+]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100" dirty="0"/>
                        <a:t>Text[5.2] 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61110448"/>
                  </a:ext>
                </a:extLst>
              </a:tr>
              <a:tr h="27712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长文本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r>
                        <a:rPr lang="en-US" altLang="zh-CN" sz="1100" dirty="0"/>
                        <a:t>Long Text[$200]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0968606"/>
                  </a:ext>
                </a:extLst>
              </a:tr>
              <a:tr h="27712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文本标签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100" dirty="0"/>
                        <a:t>LABEL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  <a:endParaRPr lang="zh-CN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25457362"/>
                  </a:ext>
                </a:extLst>
              </a:tr>
              <a:tr h="2771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文本框（默认值）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100" dirty="0"/>
                        <a:t>Default Value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 err="1"/>
                        <a:t>Defaultvalue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[3]Text</a:t>
                      </a:r>
                      <a:endParaRPr lang="zh-CN" altLang="zh-C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DefaultValue</a:t>
                      </a: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=kg</a:t>
                      </a:r>
                      <a:endParaRPr lang="zh-CN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20016431"/>
                  </a:ext>
                </a:extLst>
              </a:tr>
              <a:tr h="1052074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单选框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 err="1">
                          <a:effectLst/>
                        </a:rPr>
                        <a:t>RadioButton</a:t>
                      </a:r>
                      <a:r>
                        <a:rPr lang="en-US" altLang="zh-CN" sz="1100" kern="0" dirty="0">
                          <a:effectLst/>
                        </a:rPr>
                        <a:t> [1] 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Code list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1=</a:t>
                      </a:r>
                      <a:r>
                        <a:rPr lang="zh-CN" altLang="zh-CN" sz="1100" kern="0" dirty="0">
                          <a:effectLst/>
                        </a:rPr>
                        <a:t>是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2=</a:t>
                      </a:r>
                      <a:r>
                        <a:rPr lang="zh-CN" altLang="zh-CN" sz="1100" kern="0" dirty="0">
                          <a:effectLst/>
                        </a:rPr>
                        <a:t>否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 err="1">
                          <a:effectLst/>
                        </a:rPr>
                        <a:t>RadioButton</a:t>
                      </a:r>
                      <a:r>
                        <a:rPr lang="en-US" altLang="zh-CN" sz="1100" kern="0" dirty="0">
                          <a:effectLst/>
                        </a:rPr>
                        <a:t> [2] 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1=</a:t>
                      </a:r>
                      <a:r>
                        <a:rPr lang="zh-CN" altLang="zh-CN" sz="1100" kern="0" dirty="0">
                          <a:effectLst/>
                        </a:rPr>
                        <a:t>受试者拒绝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2=</a:t>
                      </a:r>
                      <a:r>
                        <a:rPr lang="zh-CN" altLang="zh-CN" sz="1100" kern="0" dirty="0">
                          <a:effectLst/>
                        </a:rPr>
                        <a:t>检查被遗漏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99=</a:t>
                      </a:r>
                      <a:r>
                        <a:rPr lang="zh-CN" altLang="zh-CN" sz="1100" kern="0" dirty="0">
                          <a:effectLst/>
                        </a:rPr>
                        <a:t>其他，请详述</a:t>
                      </a:r>
                      <a:endParaRPr lang="zh-CN" altLang="zh-CN" sz="1100" kern="10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 err="1">
                          <a:effectLst/>
                        </a:rPr>
                        <a:t>RadioButton</a:t>
                      </a:r>
                      <a:r>
                        <a:rPr lang="en-US" altLang="zh-CN" sz="1100" kern="0" dirty="0">
                          <a:effectLst/>
                        </a:rPr>
                        <a:t> (Vertical) [1] 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1=</a:t>
                      </a:r>
                      <a:r>
                        <a:rPr lang="zh-CN" altLang="zh-CN" sz="1100" kern="0" dirty="0">
                          <a:effectLst/>
                        </a:rPr>
                        <a:t>是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2=</a:t>
                      </a:r>
                      <a:r>
                        <a:rPr lang="zh-CN" altLang="zh-CN" sz="1100" kern="0" dirty="0">
                          <a:effectLst/>
                        </a:rPr>
                        <a:t>否</a:t>
                      </a:r>
                      <a:endParaRPr lang="zh-CN" altLang="en-US" sz="1100" dirty="0"/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zh-CN" alt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 err="1">
                          <a:effectLst/>
                        </a:rPr>
                        <a:t>RadioButton</a:t>
                      </a:r>
                      <a:r>
                        <a:rPr lang="en-US" altLang="zh-CN" sz="1100" kern="0" dirty="0">
                          <a:effectLst/>
                        </a:rPr>
                        <a:t>(Vertical)  [2] 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Code list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1=</a:t>
                      </a:r>
                      <a:r>
                        <a:rPr lang="zh-CN" altLang="zh-CN" sz="1100" kern="0" dirty="0">
                          <a:effectLst/>
                        </a:rPr>
                        <a:t>受试者拒绝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2=</a:t>
                      </a:r>
                      <a:r>
                        <a:rPr lang="zh-CN" altLang="zh-CN" sz="1100" kern="0" dirty="0">
                          <a:effectLst/>
                        </a:rPr>
                        <a:t>检查被遗漏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99=</a:t>
                      </a:r>
                      <a:r>
                        <a:rPr lang="zh-CN" altLang="zh-CN" sz="1100" kern="0" dirty="0">
                          <a:effectLst/>
                        </a:rPr>
                        <a:t>其他，请详述</a:t>
                      </a:r>
                      <a:endParaRPr lang="zh-CN" altLang="zh-CN" sz="1100" kern="10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56345"/>
                  </a:ext>
                </a:extLst>
              </a:tr>
              <a:tr h="1173697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下拉框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100" dirty="0" err="1"/>
                        <a:t>DropDownList</a:t>
                      </a:r>
                      <a:r>
                        <a:rPr lang="en-US" altLang="zh-CN" sz="1100" dirty="0"/>
                        <a:t>[2]</a:t>
                      </a:r>
                    </a:p>
                    <a:p>
                      <a:r>
                        <a:rPr lang="en-US" altLang="zh-CN" sz="1100" dirty="0" err="1"/>
                        <a:t>Codelist</a:t>
                      </a:r>
                      <a:endParaRPr lang="en-US" altLang="zh-CN" sz="1100" dirty="0"/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1=</a:t>
                      </a:r>
                      <a:r>
                        <a:rPr lang="zh-CN" altLang="zh-CN" sz="1100" kern="0" dirty="0">
                          <a:effectLst/>
                        </a:rPr>
                        <a:t>是</a:t>
                      </a:r>
                      <a:endParaRPr lang="zh-CN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</a:rPr>
                        <a:t>2=</a:t>
                      </a:r>
                      <a:r>
                        <a:rPr lang="zh-CN" altLang="zh-CN" sz="1100" kern="0" dirty="0">
                          <a:effectLst/>
                        </a:rPr>
                        <a:t>否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100" dirty="0" err="1"/>
                        <a:t>DropDownList</a:t>
                      </a:r>
                      <a:r>
                        <a:rPr lang="en-US" altLang="zh-CN" sz="1100" dirty="0"/>
                        <a:t>[2]</a:t>
                      </a:r>
                    </a:p>
                    <a:p>
                      <a:r>
                        <a:rPr lang="en-US" altLang="zh-CN" sz="1100" dirty="0"/>
                        <a:t>1=</a:t>
                      </a:r>
                      <a:r>
                        <a:rPr lang="zh-CN" altLang="en-US" sz="1100" dirty="0"/>
                        <a:t>受试者拒绝</a:t>
                      </a:r>
                    </a:p>
                    <a:p>
                      <a:r>
                        <a:rPr lang="en-US" altLang="zh-CN" sz="1100" dirty="0"/>
                        <a:t>2=</a:t>
                      </a:r>
                      <a:r>
                        <a:rPr lang="zh-CN" altLang="en-US" sz="1100" dirty="0"/>
                        <a:t>检查被遗漏</a:t>
                      </a:r>
                    </a:p>
                    <a:p>
                      <a:r>
                        <a:rPr lang="en-US" altLang="zh-CN" sz="1100" dirty="0"/>
                        <a:t>99=</a:t>
                      </a:r>
                      <a:r>
                        <a:rPr lang="zh-CN" altLang="en-US" sz="1100" dirty="0"/>
                        <a:t>其他，请详述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00674355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复选框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100" dirty="0"/>
                        <a:t>CHECK[1]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CHECK BOX[1]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00549389"/>
                  </a:ext>
                </a:extLst>
              </a:tr>
              <a:tr h="456438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日期框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zh-C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1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dd mmm </a:t>
                      </a:r>
                      <a:r>
                        <a:rPr lang="en-US" altLang="zh-CN" sz="11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zh-CN" sz="11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(calendar tool)</a:t>
                      </a:r>
                      <a:endParaRPr lang="zh-CN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zh-C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1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dd- mmm- </a:t>
                      </a:r>
                      <a:r>
                        <a:rPr lang="en-US" altLang="zh-CN" sz="11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zh-CN" sz="11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- (calendar tool)</a:t>
                      </a:r>
                      <a:endParaRPr lang="zh-CN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83887286"/>
                  </a:ext>
                </a:extLst>
              </a:tr>
              <a:tr h="286775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时间框</a:t>
                      </a:r>
                      <a:r>
                        <a:rPr lang="zh-CN" altLang="en-US" sz="900" dirty="0"/>
                        <a:t>（</a:t>
                      </a:r>
                      <a:r>
                        <a:rPr lang="en-US" altLang="zh-CN" sz="900" dirty="0"/>
                        <a:t>rave</a:t>
                      </a:r>
                      <a:r>
                        <a:rPr lang="zh-CN" altLang="en-US" sz="900" dirty="0"/>
                        <a:t>无法设置</a:t>
                      </a:r>
                      <a:r>
                        <a:rPr lang="en-US" altLang="zh-CN" sz="900" dirty="0"/>
                        <a:t>UK</a:t>
                      </a:r>
                      <a:r>
                        <a:rPr lang="zh-CN" altLang="en-US" sz="900" dirty="0"/>
                        <a:t>）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hh:mm</a:t>
                      </a: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(24H)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hh:mm:ss</a:t>
                      </a: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(24H)</a:t>
                      </a:r>
                      <a:endParaRPr lang="zh-CN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13456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动态链接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Dynamic </a:t>
                      </a:r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SearchList</a:t>
                      </a: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[$100]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DynamicSearchList</a:t>
                      </a: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[$100]</a:t>
                      </a:r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343823"/>
                  </a:ext>
                </a:extLst>
              </a:tr>
            </a:tbl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4DF08C5-1EC0-4D5B-B67D-E062D1F81FC8}"/>
              </a:ext>
            </a:extLst>
          </p:cNvPr>
          <p:cNvCxnSpPr>
            <a:cxnSpLocks/>
          </p:cNvCxnSpPr>
          <p:nvPr/>
        </p:nvCxnSpPr>
        <p:spPr>
          <a:xfrm>
            <a:off x="1756372" y="5037350"/>
            <a:ext cx="579224" cy="2806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45FD094-9029-4EAA-BE75-BC986A1B4747}"/>
              </a:ext>
            </a:extLst>
          </p:cNvPr>
          <p:cNvSpPr txBox="1"/>
          <p:nvPr/>
        </p:nvSpPr>
        <p:spPr>
          <a:xfrm>
            <a:off x="0" y="4686110"/>
            <a:ext cx="2125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日期时间的格式需要严格规范书写，否则很容易被识别为</a:t>
            </a:r>
            <a:r>
              <a:rPr lang="en-US" altLang="zh-CN" sz="1200" dirty="0"/>
              <a:t>UK</a:t>
            </a:r>
            <a:endParaRPr lang="zh-CN" altLang="en-US" sz="1200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447914C-6C34-40AC-92BE-ED77776830A5}"/>
              </a:ext>
            </a:extLst>
          </p:cNvPr>
          <p:cNvCxnSpPr>
            <a:cxnSpLocks/>
          </p:cNvCxnSpPr>
          <p:nvPr/>
        </p:nvCxnSpPr>
        <p:spPr>
          <a:xfrm>
            <a:off x="1756372" y="1660400"/>
            <a:ext cx="579224" cy="2806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8E694FE-762C-493F-B8D0-AF373CF25FE2}"/>
              </a:ext>
            </a:extLst>
          </p:cNvPr>
          <p:cNvSpPr txBox="1"/>
          <p:nvPr/>
        </p:nvSpPr>
        <p:spPr>
          <a:xfrm>
            <a:off x="0" y="1309160"/>
            <a:ext cx="2125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不要使用</a:t>
            </a:r>
            <a:r>
              <a:rPr lang="en-US" altLang="zh-CN" sz="1200" dirty="0"/>
              <a:t>Heading field</a:t>
            </a:r>
            <a:r>
              <a:rPr lang="zh-CN" altLang="en-US" sz="1200" dirty="0"/>
              <a:t>等描述</a:t>
            </a:r>
          </a:p>
        </p:txBody>
      </p:sp>
    </p:spTree>
    <p:extLst>
      <p:ext uri="{BB962C8B-B14F-4D97-AF65-F5344CB8AC3E}">
        <p14:creationId xmlns:p14="http://schemas.microsoft.com/office/powerpoint/2010/main" val="3341817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C2842E41-C728-4EF6-BD06-AAC9468048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07088"/>
              </p:ext>
            </p:extLst>
          </p:nvPr>
        </p:nvGraphicFramePr>
        <p:xfrm>
          <a:off x="1198485" y="1120676"/>
          <a:ext cx="7137647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BE5BC53-69F5-4057-AF83-538E58F080F7}"/>
              </a:ext>
            </a:extLst>
          </p:cNvPr>
          <p:cNvSpPr txBox="1"/>
          <p:nvPr/>
        </p:nvSpPr>
        <p:spPr>
          <a:xfrm>
            <a:off x="452761" y="266330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Rave</a:t>
            </a:r>
            <a:r>
              <a:rPr lang="zh-CN" altLang="en-US" dirty="0"/>
              <a:t>系统需要的表单类型</a:t>
            </a:r>
          </a:p>
        </p:txBody>
      </p:sp>
    </p:spTree>
    <p:extLst>
      <p:ext uri="{BB962C8B-B14F-4D97-AF65-F5344CB8AC3E}">
        <p14:creationId xmlns:p14="http://schemas.microsoft.com/office/powerpoint/2010/main" val="236579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2FE889-2909-4E10-8831-B853C01F1092}"/>
              </a:ext>
            </a:extLst>
          </p:cNvPr>
          <p:cNvSpPr txBox="1"/>
          <p:nvPr/>
        </p:nvSpPr>
        <p:spPr>
          <a:xfrm>
            <a:off x="346229" y="27520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各类表单类型的结构特点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F0AE9C-AFA2-4D32-9DC0-57E7332F9C93}"/>
              </a:ext>
            </a:extLst>
          </p:cNvPr>
          <p:cNvSpPr/>
          <p:nvPr/>
        </p:nvSpPr>
        <p:spPr>
          <a:xfrm>
            <a:off x="1664413" y="790348"/>
            <a:ext cx="204575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spcAft>
                <a:spcPts val="0"/>
              </a:spcAft>
              <a:buAutoNum type="arabicPeriod"/>
            </a:pPr>
            <a:r>
              <a:rPr lang="zh-CN" altLang="en-US" sz="1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常规表单</a:t>
            </a:r>
            <a:endParaRPr lang="en-US" altLang="zh-CN" sz="1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spcAft>
                <a:spcPts val="0"/>
              </a:spcAft>
              <a:buAutoNum type="arabicPeriod"/>
            </a:pPr>
            <a:endParaRPr lang="en-US" altLang="zh-CN" sz="1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16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特点：首行没有标识</a:t>
            </a:r>
            <a:endParaRPr lang="zh-CN" altLang="zh-CN" sz="16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67364E1-99DD-42FA-847B-CC0F4416F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69302"/>
              </p:ext>
            </p:extLst>
          </p:nvPr>
        </p:nvGraphicFramePr>
        <p:xfrm>
          <a:off x="1664413" y="1767155"/>
          <a:ext cx="8255570" cy="4961980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2561696">
                  <a:extLst>
                    <a:ext uri="{9D8B030D-6E8A-4147-A177-3AD203B41FA5}">
                      <a16:colId xmlns:a16="http://schemas.microsoft.com/office/drawing/2014/main" val="659579070"/>
                    </a:ext>
                  </a:extLst>
                </a:gridCol>
                <a:gridCol w="3245678">
                  <a:extLst>
                    <a:ext uri="{9D8B030D-6E8A-4147-A177-3AD203B41FA5}">
                      <a16:colId xmlns:a16="http://schemas.microsoft.com/office/drawing/2014/main" val="3250544732"/>
                    </a:ext>
                  </a:extLst>
                </a:gridCol>
                <a:gridCol w="2448196">
                  <a:extLst>
                    <a:ext uri="{9D8B030D-6E8A-4147-A177-3AD203B41FA5}">
                      <a16:colId xmlns:a16="http://schemas.microsoft.com/office/drawing/2014/main" val="1040145514"/>
                    </a:ext>
                  </a:extLst>
                </a:gridCol>
              </a:tblGrid>
              <a:tr h="332732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b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Demographics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(DM)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325125"/>
                  </a:ext>
                </a:extLst>
              </a:tr>
              <a:tr h="3785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Date of Birth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(BRTHDAT)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|_|_| |_|_|_| |_|_|_|_|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dd  mmm  yyyy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[$10] </a:t>
                      </a: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 mmm </a:t>
                      </a: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(calendar tool)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499136"/>
                  </a:ext>
                </a:extLst>
              </a:tr>
              <a:tr h="22295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Age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(AGE)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|_|_| 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[2]Text 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8763880"/>
                  </a:ext>
                </a:extLst>
              </a:tr>
              <a:tr h="332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Age Unit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(AGEU)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years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[$5] Text 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Value=years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31990"/>
                  </a:ext>
                </a:extLst>
              </a:tr>
              <a:tr h="4990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Sex 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(SEX)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Male   ○ Female  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[1] Radio Button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1= Male  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2= Female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734220"/>
                  </a:ext>
                </a:extLst>
              </a:tr>
              <a:tr h="6654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If female, is the subject of childbearing potential</a:t>
                      </a: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?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(CHILDPOT)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Yes    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No  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Unclear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[1] Radio Button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1= Yes  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2= No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3= Unclear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354529"/>
                  </a:ext>
                </a:extLst>
              </a:tr>
              <a:tr h="6654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If No or Unclear, please specify the reason 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(CHILDREA)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Post-menopausal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Permanently sterile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Other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[2] Radio Button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1= Post-menopausal 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2= Permanently sterile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99=Other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59034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Other, please specify 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(CDREAOTH)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 _______              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[$200] </a:t>
                      </a: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LongText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152177"/>
                  </a:ext>
                </a:extLst>
              </a:tr>
              <a:tr h="133092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Race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(RACE)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Asian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American Indian or Alaska Native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Black or African American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Native Hawaiian or other Pacific Islander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White</a:t>
                      </a:r>
                      <a:endParaRPr lang="zh-CN" sz="11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○ Other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[2] Radio Button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1= Asian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2= American Indian or Alaska Native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3= Black or African American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4= Native Hawaiian or other Pacific Islander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5= White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99= Other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548690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Other race, please specify.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 (RACEOTH)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 _______              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49075" marR="490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[$200] Long Text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75" marR="490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734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043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01B3CC-1702-4B8D-ADC6-9B96451031BC}"/>
              </a:ext>
            </a:extLst>
          </p:cNvPr>
          <p:cNvSpPr txBox="1"/>
          <p:nvPr/>
        </p:nvSpPr>
        <p:spPr>
          <a:xfrm>
            <a:off x="346229" y="27520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各类表单类型的结构特点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FAED4E-DD53-498D-902A-4F1F71131D35}"/>
              </a:ext>
            </a:extLst>
          </p:cNvPr>
          <p:cNvSpPr/>
          <p:nvPr/>
        </p:nvSpPr>
        <p:spPr>
          <a:xfrm>
            <a:off x="1118950" y="925471"/>
            <a:ext cx="80579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AutoNum type="arabicPeriod" startAt="2"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可添加行表单（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列式）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推荐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lvl="0" algn="just">
              <a:spcAft>
                <a:spcPts val="0"/>
              </a:spcAft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特点：</a:t>
            </a:r>
            <a:r>
              <a:rPr lang="en-US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logline</a:t>
            </a: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部分以</a:t>
            </a:r>
            <a:r>
              <a:rPr lang="en-US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SPID</a:t>
            </a: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标识符开始，</a:t>
            </a:r>
            <a:r>
              <a:rPr lang="en-US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[Add row]</a:t>
            </a: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标识符结束。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97C4E3-B696-4006-8A40-F9CEA0FB6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50451"/>
              </p:ext>
            </p:extLst>
          </p:nvPr>
        </p:nvGraphicFramePr>
        <p:xfrm>
          <a:off x="1210322" y="2129733"/>
          <a:ext cx="8252533" cy="4262188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3320819">
                  <a:extLst>
                    <a:ext uri="{9D8B030D-6E8A-4147-A177-3AD203B41FA5}">
                      <a16:colId xmlns:a16="http://schemas.microsoft.com/office/drawing/2014/main" val="2479384279"/>
                    </a:ext>
                  </a:extLst>
                </a:gridCol>
                <a:gridCol w="2383331">
                  <a:extLst>
                    <a:ext uri="{9D8B030D-6E8A-4147-A177-3AD203B41FA5}">
                      <a16:colId xmlns:a16="http://schemas.microsoft.com/office/drawing/2014/main" val="539870553"/>
                    </a:ext>
                  </a:extLst>
                </a:gridCol>
                <a:gridCol w="2548383">
                  <a:extLst>
                    <a:ext uri="{9D8B030D-6E8A-4147-A177-3AD203B41FA5}">
                      <a16:colId xmlns:a16="http://schemas.microsoft.com/office/drawing/2014/main" val="1723308170"/>
                    </a:ext>
                  </a:extLst>
                </a:gridCol>
              </a:tblGrid>
              <a:tr h="466810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b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既往病史</a:t>
                      </a:r>
                      <a:r>
                        <a:rPr lang="en-US" sz="1200" kern="0" dirty="0">
                          <a:solidFill>
                            <a:srgbClr val="FF0000"/>
                          </a:solidFill>
                          <a:effectLst/>
                        </a:rPr>
                        <a:t>(MH)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ADD1</a:t>
                      </a:r>
                      <a:endParaRPr lang="zh-CN" sz="1000" kern="10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651118"/>
                  </a:ext>
                </a:extLst>
              </a:tr>
              <a:tr h="893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受试者在签署知情同意书前</a:t>
                      </a:r>
                      <a:r>
                        <a:rPr lang="en-US" sz="1100" kern="0" dirty="0">
                          <a:effectLst/>
                        </a:rPr>
                        <a:t>3</a:t>
                      </a:r>
                      <a:r>
                        <a:rPr lang="zh-CN" sz="1100" kern="0" dirty="0">
                          <a:effectLst/>
                        </a:rPr>
                        <a:t>个月内有任何既往病史</a:t>
                      </a:r>
                      <a:r>
                        <a:rPr lang="en-US" sz="1100" kern="0" dirty="0">
                          <a:effectLst/>
                        </a:rPr>
                        <a:t>? 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(MHYN)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是 </a:t>
                      </a:r>
                      <a:r>
                        <a:rPr lang="en-US" sz="1100" kern="0" dirty="0">
                          <a:effectLst/>
                        </a:rPr>
                        <a:t>    ○</a:t>
                      </a:r>
                      <a:r>
                        <a:rPr lang="zh-CN" sz="1100" kern="0" dirty="0">
                          <a:effectLst/>
                        </a:rPr>
                        <a:t>否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</a:rPr>
                        <a:t>RadioButton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 [1]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Code list: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1=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是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2=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否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95258"/>
                  </a:ext>
                </a:extLst>
              </a:tr>
              <a:tr h="223258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如是，请在下表中记录相关疾病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(MHTXT)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LABEL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532941"/>
                  </a:ext>
                </a:extLst>
              </a:tr>
              <a:tr h="22325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  <a:highlight>
                            <a:srgbClr val="00FF00"/>
                          </a:highlight>
                        </a:rPr>
                        <a:t>编号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(MHSPID)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ROWNUM(N2)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082325"/>
                  </a:ext>
                </a:extLst>
              </a:tr>
              <a:tr h="22325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疾病名称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(MHTERM)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____________</a:t>
                      </a:r>
                      <a:endParaRPr lang="zh-CN" altLang="en-US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574549"/>
                  </a:ext>
                </a:extLst>
              </a:tr>
              <a:tr h="4465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开始日期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(MHSTDAT)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|_|_| |_|_|_| |_|_|_|_|</a:t>
                      </a:r>
                      <a:endParaRPr lang="zh-CN" altLang="zh-CN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  mmm  </a:t>
                      </a:r>
                      <a:r>
                        <a:rPr lang="en-US" altLang="zh-CN" sz="1100" kern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endParaRPr lang="zh-CN" altLang="en-US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zh-CN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dd- mmm- </a:t>
                      </a:r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(calendar tool)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947816"/>
                  </a:ext>
                </a:extLst>
              </a:tr>
              <a:tr h="893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是否持续</a:t>
                      </a:r>
                      <a:r>
                        <a:rPr lang="en-US" sz="1100" kern="0" dirty="0">
                          <a:effectLst/>
                        </a:rPr>
                        <a:t>?  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(MHONGO)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r>
                        <a:rPr lang="zh-CN" altLang="en-US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 </a:t>
                      </a: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○</a:t>
                      </a:r>
                      <a:r>
                        <a:rPr lang="zh-CN" altLang="en-US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否</a:t>
                      </a: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</a:rPr>
                        <a:t>RadioButton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 [1]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Code list: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1=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是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2=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否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92527"/>
                  </a:ext>
                </a:extLst>
              </a:tr>
              <a:tr h="4465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结束日期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(MHENDAT)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|_|_| |_|_|_| |_|_|_|_|</a:t>
                      </a:r>
                      <a:endParaRPr lang="zh-CN" altLang="zh-CN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  mmm  </a:t>
                      </a:r>
                      <a:r>
                        <a:rPr lang="en-US" altLang="zh-CN" sz="1100" kern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endParaRPr lang="zh-CN" altLang="en-US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zh-CN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dd- mmm- </a:t>
                      </a:r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(calendar tool)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269679"/>
                  </a:ext>
                </a:extLst>
              </a:tr>
              <a:tr h="223258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highlight>
                            <a:srgbClr val="00FF00"/>
                          </a:highlight>
                        </a:rPr>
                        <a:t>[Add row]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984223"/>
                  </a:ext>
                </a:extLst>
              </a:tr>
              <a:tr h="22325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备注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(COMMENTS)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_____________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98" marR="681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657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104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01B3CC-1702-4B8D-ADC6-9B96451031BC}"/>
              </a:ext>
            </a:extLst>
          </p:cNvPr>
          <p:cNvSpPr txBox="1"/>
          <p:nvPr/>
        </p:nvSpPr>
        <p:spPr>
          <a:xfrm>
            <a:off x="346229" y="27520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各类表单类型的结构特点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CCA0501-0CB6-4DA8-84C5-741DFDC78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427000"/>
              </p:ext>
            </p:extLst>
          </p:nvPr>
        </p:nvGraphicFramePr>
        <p:xfrm>
          <a:off x="683580" y="2289532"/>
          <a:ext cx="9507987" cy="3942012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1874975">
                  <a:extLst>
                    <a:ext uri="{9D8B030D-6E8A-4147-A177-3AD203B41FA5}">
                      <a16:colId xmlns:a16="http://schemas.microsoft.com/office/drawing/2014/main" val="3295924707"/>
                    </a:ext>
                  </a:extLst>
                </a:gridCol>
                <a:gridCol w="1859762">
                  <a:extLst>
                    <a:ext uri="{9D8B030D-6E8A-4147-A177-3AD203B41FA5}">
                      <a16:colId xmlns:a16="http://schemas.microsoft.com/office/drawing/2014/main" val="1311648462"/>
                    </a:ext>
                  </a:extLst>
                </a:gridCol>
                <a:gridCol w="2122183">
                  <a:extLst>
                    <a:ext uri="{9D8B030D-6E8A-4147-A177-3AD203B41FA5}">
                      <a16:colId xmlns:a16="http://schemas.microsoft.com/office/drawing/2014/main" val="2076102837"/>
                    </a:ext>
                  </a:extLst>
                </a:gridCol>
                <a:gridCol w="1528884">
                  <a:extLst>
                    <a:ext uri="{9D8B030D-6E8A-4147-A177-3AD203B41FA5}">
                      <a16:colId xmlns:a16="http://schemas.microsoft.com/office/drawing/2014/main" val="3573689196"/>
                    </a:ext>
                  </a:extLst>
                </a:gridCol>
                <a:gridCol w="2122183">
                  <a:extLst>
                    <a:ext uri="{9D8B030D-6E8A-4147-A177-3AD203B41FA5}">
                      <a16:colId xmlns:a16="http://schemas.microsoft.com/office/drawing/2014/main" val="2632278332"/>
                    </a:ext>
                  </a:extLst>
                </a:gridCol>
              </a:tblGrid>
              <a:tr h="535192">
                <a:tc grid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b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既往病史</a:t>
                      </a:r>
                      <a:r>
                        <a:rPr lang="en-US" sz="1200" kern="0" dirty="0">
                          <a:solidFill>
                            <a:srgbClr val="FF0000"/>
                          </a:solidFill>
                          <a:effectLst/>
                        </a:rPr>
                        <a:t>(MH)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ADD2</a:t>
                      </a:r>
                      <a:endParaRPr lang="zh-CN" sz="1000" kern="10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524191"/>
                  </a:ext>
                </a:extLst>
              </a:tr>
              <a:tr h="1023847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受试者是否有重大既往病史或慢性病史或在签署知情同意书前</a:t>
                      </a: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个月内有任何既往病史</a:t>
                      </a: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? 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(MHYN)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○</a:t>
                      </a: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是 </a:t>
                      </a: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    ○</a:t>
                      </a: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CN" sz="1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</a:rPr>
                        <a:t>RadioButton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 [1]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Code list: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1=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是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2=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否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064058"/>
                  </a:ext>
                </a:extLst>
              </a:tr>
              <a:tr h="255962">
                <a:tc grid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如是，请在下表中记录相关疾病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(MHTXT)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LABEL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660940"/>
                  </a:ext>
                </a:extLst>
              </a:tr>
              <a:tr h="127980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编号</a:t>
                      </a:r>
                      <a:endParaRPr lang="zh-CN" sz="10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(MHSPID)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ROWNUM(N2)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疾病名称</a:t>
                      </a:r>
                      <a:endParaRPr lang="zh-CN" sz="10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(MHTERM)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Text [$200]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开始日期</a:t>
                      </a:r>
                      <a:endParaRPr lang="zh-CN" sz="10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(MHSTDAT)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zh-CN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dd- mmm- </a:t>
                      </a:r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(calendar tool)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是否持续</a:t>
                      </a: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zh-CN" sz="10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(MHONGO)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Code list: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1=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是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2=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否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结束日期</a:t>
                      </a:r>
                      <a:endParaRPr lang="zh-CN" sz="10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(MHENDAT)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zh-CN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dd- mmm- </a:t>
                      </a:r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(calendar tool)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20" marR="676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759877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_____________</a:t>
                      </a:r>
                      <a:endParaRPr lang="zh-CN" sz="1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|_|_| |_|_|_| |_|_|_|_|</a:t>
                      </a:r>
                      <a:endParaRPr lang="zh-CN" altLang="zh-CN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  mmm  </a:t>
                      </a:r>
                      <a:r>
                        <a:rPr lang="en-US" altLang="zh-CN" sz="1100" kern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endParaRPr lang="zh-CN" altLang="en-US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○</a:t>
                      </a:r>
                      <a:r>
                        <a:rPr lang="zh-CN" sz="1100" kern="0">
                          <a:solidFill>
                            <a:schemeClr val="tx1"/>
                          </a:solidFill>
                          <a:effectLst/>
                        </a:rPr>
                        <a:t>是 </a:t>
                      </a: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     ○</a:t>
                      </a:r>
                      <a:r>
                        <a:rPr lang="zh-CN" sz="11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CN" sz="1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|_|_| |_|_|_| |_|_|_|_|</a:t>
                      </a:r>
                      <a:endParaRPr lang="zh-CN" altLang="zh-CN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  mmm  </a:t>
                      </a:r>
                      <a:r>
                        <a:rPr lang="en-US" altLang="zh-CN" sz="1100" kern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endParaRPr lang="zh-CN" altLang="en-US" sz="11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20" marR="676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473816"/>
                  </a:ext>
                </a:extLst>
              </a:tr>
              <a:tr h="255962">
                <a:tc grid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[Add row]</a:t>
                      </a:r>
                      <a:endParaRPr lang="zh-CN" sz="1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zh-CN" sz="1000" kern="10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265436"/>
                  </a:ext>
                </a:extLst>
              </a:tr>
              <a:tr h="255962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备注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(COMMENTS)</a:t>
                      </a:r>
                      <a:endParaRPr lang="zh-CN" sz="10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_____________</a:t>
                      </a:r>
                      <a:endParaRPr lang="zh-CN" sz="1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sz="10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620" marR="676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694328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5E32A09-FABB-4B0C-8314-8EE3F5AF9502}"/>
              </a:ext>
            </a:extLst>
          </p:cNvPr>
          <p:cNvSpPr/>
          <p:nvPr/>
        </p:nvSpPr>
        <p:spPr>
          <a:xfrm>
            <a:off x="624395" y="866871"/>
            <a:ext cx="90433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AutoNum type="arabicPeriod" startAt="3"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可添加行表单（多列式）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AutoNum type="arabicPeriod" startAt="3"/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特点：</a:t>
            </a:r>
            <a:r>
              <a:rPr lang="en-US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logline</a:t>
            </a: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的列数一般不为</a:t>
            </a:r>
            <a:r>
              <a:rPr lang="en-US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列，或第一个单元格的为</a:t>
            </a:r>
            <a:r>
              <a:rPr lang="en-US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SPID</a:t>
            </a: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01320" algn="just"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以</a:t>
            </a:r>
            <a:r>
              <a:rPr lang="en-US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[Add row]</a:t>
            </a:r>
            <a:r>
              <a:rPr lang="zh-CN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标识符结束。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536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01B3CC-1702-4B8D-ADC6-9B96451031BC}"/>
              </a:ext>
            </a:extLst>
          </p:cNvPr>
          <p:cNvSpPr txBox="1"/>
          <p:nvPr/>
        </p:nvSpPr>
        <p:spPr>
          <a:xfrm>
            <a:off x="346229" y="27520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各类表单类型的结构特点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DF4F8-C251-4B81-95A1-61C840C2C3CF}"/>
              </a:ext>
            </a:extLst>
          </p:cNvPr>
          <p:cNvSpPr/>
          <p:nvPr/>
        </p:nvSpPr>
        <p:spPr>
          <a:xfrm>
            <a:off x="1207363" y="970416"/>
            <a:ext cx="822431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Tx/>
              <a:buAutoNum type="arabicPeriod" startAt="4"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固定行表单（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列式）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推荐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特点：固定行部分以</a:t>
            </a:r>
            <a:r>
              <a:rPr lang="en-US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SPID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标识符开始，以</a:t>
            </a:r>
            <a:r>
              <a:rPr lang="en-US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[Add row]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标识符结束。</a:t>
            </a:r>
            <a:endParaRPr lang="en-US" altLang="zh-CN" sz="1400" b="1" kern="1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标志性字段如</a:t>
            </a:r>
            <a:r>
              <a:rPr lang="en-US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PETEST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PCTPT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等，需要写好格式</a:t>
            </a:r>
            <a:r>
              <a:rPr lang="en-US" altLang="zh-CN" sz="1400" b="1" kern="100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DropdownList</a:t>
            </a:r>
            <a:r>
              <a:rPr lang="en-US" altLang="zh-CN" sz="1400" kern="0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1400" b="1" kern="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Default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，方便程序定位识别。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9A9BA3C-71A7-4477-A5F0-8301678DB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817628"/>
              </p:ext>
            </p:extLst>
          </p:nvPr>
        </p:nvGraphicFramePr>
        <p:xfrm>
          <a:off x="1207362" y="1932127"/>
          <a:ext cx="9028591" cy="4759549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2714178">
                  <a:extLst>
                    <a:ext uri="{9D8B030D-6E8A-4147-A177-3AD203B41FA5}">
                      <a16:colId xmlns:a16="http://schemas.microsoft.com/office/drawing/2014/main" val="4181468654"/>
                    </a:ext>
                  </a:extLst>
                </a:gridCol>
                <a:gridCol w="3259888">
                  <a:extLst>
                    <a:ext uri="{9D8B030D-6E8A-4147-A177-3AD203B41FA5}">
                      <a16:colId xmlns:a16="http://schemas.microsoft.com/office/drawing/2014/main" val="3610110248"/>
                    </a:ext>
                  </a:extLst>
                </a:gridCol>
                <a:gridCol w="3054525">
                  <a:extLst>
                    <a:ext uri="{9D8B030D-6E8A-4147-A177-3AD203B41FA5}">
                      <a16:colId xmlns:a16="http://schemas.microsoft.com/office/drawing/2014/main" val="2017406488"/>
                    </a:ext>
                  </a:extLst>
                </a:gridCol>
              </a:tblGrid>
              <a:tr h="304521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chemeClr val="tx1"/>
                          </a:solidFill>
                          <a:effectLst/>
                        </a:rPr>
                        <a:t>Pharmacokinetics sample collection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(PC5)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FIX1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566689"/>
                  </a:ext>
                </a:extLst>
              </a:tr>
              <a:tr h="5075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Were pharmacokinetics (PK) samples collected?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(PCPERF)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○ Yes    ○ No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 err="1">
                          <a:solidFill>
                            <a:srgbClr val="00B050"/>
                          </a:solidFill>
                          <a:effectLst/>
                        </a:rPr>
                        <a:t>RadioButton</a:t>
                      </a: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altLang="zh-CN" sz="1050" kern="0" dirty="0">
                          <a:solidFill>
                            <a:srgbClr val="00B050"/>
                          </a:solidFill>
                          <a:effectLst/>
                        </a:rPr>
                        <a:t>[1] 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1=Yes  2=No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304347"/>
                  </a:ext>
                </a:extLst>
              </a:tr>
              <a:tr h="45784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If not, please provide the reason.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(PCREASND)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              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05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altLang="zh-CN" sz="105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337337"/>
                  </a:ext>
                </a:extLst>
              </a:tr>
              <a:tr h="20301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highlight>
                            <a:srgbClr val="00FF00"/>
                          </a:highlight>
                        </a:rPr>
                        <a:t>Row Number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(VSSPID)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ROWNUM(N2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800459"/>
                  </a:ext>
                </a:extLst>
              </a:tr>
              <a:tr h="151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Planned Timepoint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(PCTPT)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○ Pre-dose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○ End of infusion (EOI)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○ EOI+2 h 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○ EOI+4 h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○ EOI+7 h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○ EOI+24 h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○ EOI+48 h</a:t>
                      </a:r>
                      <a:endParaRPr lang="zh-CN" sz="1050" kern="100" dirty="0">
                        <a:effectLst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DropdownList</a:t>
                      </a: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altLang="zh-CN" sz="1050" kern="0" dirty="0">
                          <a:solidFill>
                            <a:srgbClr val="00B050"/>
                          </a:solidFill>
                          <a:effectLst/>
                        </a:rPr>
                        <a:t>[2] 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Default Value</a:t>
                      </a: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=1,2</a:t>
                      </a:r>
                      <a:r>
                        <a:rPr lang="zh-CN" alt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altLang="zh-CN" sz="1050" kern="0" dirty="0">
                          <a:solidFill>
                            <a:srgbClr val="00B050"/>
                          </a:solidFill>
                          <a:effectLst/>
                        </a:rPr>
                        <a:t>......</a:t>
                      </a: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,6,7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1=Pre-dose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2=End of infusion (EOI)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3=EOI+2 h 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4=EOI+4 h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5=EOI+7 h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6=EOI+24 h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7=EOI+48 h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381296"/>
                  </a:ext>
                </a:extLst>
              </a:tr>
              <a:tr h="20301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Not Collected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(PCSTAT)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□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[1]</a:t>
                      </a:r>
                      <a:r>
                        <a:rPr lang="en-US" sz="1050" kern="0" dirty="0" err="1">
                          <a:solidFill>
                            <a:srgbClr val="00B050"/>
                          </a:solidFill>
                          <a:effectLst/>
                        </a:rPr>
                        <a:t>CheckBox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647566"/>
                  </a:ext>
                </a:extLst>
              </a:tr>
              <a:tr h="3045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The reason for not done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(PCREAND)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———————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05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altLang="zh-CN" sz="105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637855"/>
                  </a:ext>
                </a:extLst>
              </a:tr>
              <a:tr h="40603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Date of the PK sample collection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(PCDAT)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050" kern="0" dirty="0">
                          <a:effectLst/>
                        </a:rPr>
                        <a:t>|_|_|_|_|</a:t>
                      </a:r>
                      <a:r>
                        <a:rPr lang="zh-CN" altLang="zh-CN" sz="1050" kern="0" dirty="0">
                          <a:effectLst/>
                        </a:rPr>
                        <a:t>年</a:t>
                      </a:r>
                      <a:r>
                        <a:rPr lang="en-US" altLang="zh-CN" sz="1050" kern="0" dirty="0">
                          <a:effectLst/>
                        </a:rPr>
                        <a:t>|_|_|</a:t>
                      </a:r>
                      <a:r>
                        <a:rPr lang="zh-CN" altLang="zh-CN" sz="1050" kern="0" dirty="0">
                          <a:effectLst/>
                        </a:rPr>
                        <a:t>月</a:t>
                      </a:r>
                      <a:r>
                        <a:rPr lang="en-US" altLang="zh-CN" sz="1050" kern="0" dirty="0">
                          <a:effectLst/>
                        </a:rPr>
                        <a:t>|_|_|</a:t>
                      </a:r>
                      <a:r>
                        <a:rPr lang="zh-CN" altLang="zh-CN" sz="1050" kern="0" dirty="0">
                          <a:effectLst/>
                        </a:rPr>
                        <a:t>日</a:t>
                      </a:r>
                      <a:endParaRPr lang="zh-CN" altLang="zh-CN" sz="9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5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zh-CN" sz="105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05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dd- mmm- </a:t>
                      </a:r>
                      <a:r>
                        <a:rPr lang="en-US" altLang="zh-CN" sz="105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zh-CN" sz="105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(calendar tool)</a:t>
                      </a:r>
                      <a:endParaRPr lang="zh-CN" altLang="en-US" sz="105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734557"/>
                  </a:ext>
                </a:extLst>
              </a:tr>
              <a:tr h="40603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</a:rPr>
                        <a:t>Time of the PK serum sample collection (24H) 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(PCTIM)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|_|_|:|_|_|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 err="1">
                          <a:solidFill>
                            <a:srgbClr val="00B050"/>
                          </a:solidFill>
                          <a:effectLst/>
                        </a:rPr>
                        <a:t>DateTime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 err="1">
                          <a:solidFill>
                            <a:srgbClr val="00B050"/>
                          </a:solidFill>
                          <a:effectLst/>
                        </a:rPr>
                        <a:t>hh:mm</a:t>
                      </a: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(24H)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160642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highlight>
                            <a:srgbClr val="00FF00"/>
                          </a:highlight>
                        </a:rPr>
                        <a:t>[Add row]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670020"/>
                  </a:ext>
                </a:extLst>
              </a:tr>
              <a:tr h="20301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effectLst/>
                        </a:rPr>
                        <a:t>备注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effectLst/>
                        </a:rPr>
                        <a:t>(COMMENTS)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_____________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sz="105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874" marR="378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64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53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01B3CC-1702-4B8D-ADC6-9B96451031BC}"/>
              </a:ext>
            </a:extLst>
          </p:cNvPr>
          <p:cNvSpPr txBox="1"/>
          <p:nvPr/>
        </p:nvSpPr>
        <p:spPr>
          <a:xfrm>
            <a:off x="346229" y="27520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各类表单类型的结构特点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509FFE-ED18-4B11-853C-3E2856274AD0}"/>
              </a:ext>
            </a:extLst>
          </p:cNvPr>
          <p:cNvSpPr/>
          <p:nvPr/>
        </p:nvSpPr>
        <p:spPr>
          <a:xfrm>
            <a:off x="365321" y="756757"/>
            <a:ext cx="115646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固定行表单（多列式）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314C542-914D-42A5-907F-E2222D3BC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418697"/>
              </p:ext>
            </p:extLst>
          </p:nvPr>
        </p:nvGraphicFramePr>
        <p:xfrm>
          <a:off x="710214" y="1284122"/>
          <a:ext cx="10449018" cy="5237928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1171851">
                  <a:extLst>
                    <a:ext uri="{9D8B030D-6E8A-4147-A177-3AD203B41FA5}">
                      <a16:colId xmlns:a16="http://schemas.microsoft.com/office/drawing/2014/main" val="1708364398"/>
                    </a:ext>
                  </a:extLst>
                </a:gridCol>
                <a:gridCol w="1233996">
                  <a:extLst>
                    <a:ext uri="{9D8B030D-6E8A-4147-A177-3AD203B41FA5}">
                      <a16:colId xmlns:a16="http://schemas.microsoft.com/office/drawing/2014/main" val="2168417797"/>
                    </a:ext>
                  </a:extLst>
                </a:gridCol>
                <a:gridCol w="511275">
                  <a:extLst>
                    <a:ext uri="{9D8B030D-6E8A-4147-A177-3AD203B41FA5}">
                      <a16:colId xmlns:a16="http://schemas.microsoft.com/office/drawing/2014/main" val="693059465"/>
                    </a:ext>
                  </a:extLst>
                </a:gridCol>
                <a:gridCol w="360760">
                  <a:extLst>
                    <a:ext uri="{9D8B030D-6E8A-4147-A177-3AD203B41FA5}">
                      <a16:colId xmlns:a16="http://schemas.microsoft.com/office/drawing/2014/main" val="162093196"/>
                    </a:ext>
                  </a:extLst>
                </a:gridCol>
                <a:gridCol w="743701">
                  <a:extLst>
                    <a:ext uri="{9D8B030D-6E8A-4147-A177-3AD203B41FA5}">
                      <a16:colId xmlns:a16="http://schemas.microsoft.com/office/drawing/2014/main" val="2396367710"/>
                    </a:ext>
                  </a:extLst>
                </a:gridCol>
                <a:gridCol w="2228988">
                  <a:extLst>
                    <a:ext uri="{9D8B030D-6E8A-4147-A177-3AD203B41FA5}">
                      <a16:colId xmlns:a16="http://schemas.microsoft.com/office/drawing/2014/main" val="2285381372"/>
                    </a:ext>
                  </a:extLst>
                </a:gridCol>
                <a:gridCol w="180380">
                  <a:extLst>
                    <a:ext uri="{9D8B030D-6E8A-4147-A177-3AD203B41FA5}">
                      <a16:colId xmlns:a16="http://schemas.microsoft.com/office/drawing/2014/main" val="2124994773"/>
                    </a:ext>
                  </a:extLst>
                </a:gridCol>
                <a:gridCol w="1940690">
                  <a:extLst>
                    <a:ext uri="{9D8B030D-6E8A-4147-A177-3AD203B41FA5}">
                      <a16:colId xmlns:a16="http://schemas.microsoft.com/office/drawing/2014/main" val="1911130931"/>
                    </a:ext>
                  </a:extLst>
                </a:gridCol>
                <a:gridCol w="2077377">
                  <a:extLst>
                    <a:ext uri="{9D8B030D-6E8A-4147-A177-3AD203B41FA5}">
                      <a16:colId xmlns:a16="http://schemas.microsoft.com/office/drawing/2014/main" val="7739236"/>
                    </a:ext>
                  </a:extLst>
                </a:gridCol>
              </a:tblGrid>
              <a:tr h="345542">
                <a:tc gridSpan="7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b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zh-CN" sz="1100" kern="0" dirty="0">
                          <a:solidFill>
                            <a:schemeClr val="tx1"/>
                          </a:solidFill>
                          <a:effectLst/>
                        </a:rPr>
                        <a:t>体格检查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FIX2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589354"/>
                  </a:ext>
                </a:extLst>
              </a:tr>
              <a:tr h="691084"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是否进行体格检查？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(PEPERF)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○</a:t>
                      </a:r>
                      <a:r>
                        <a:rPr lang="zh-CN" sz="1100" kern="0">
                          <a:effectLst/>
                        </a:rPr>
                        <a:t>是</a:t>
                      </a:r>
                      <a:r>
                        <a:rPr lang="en-US" sz="1100" kern="0">
                          <a:effectLst/>
                        </a:rPr>
                        <a:t>    ○</a:t>
                      </a:r>
                      <a:r>
                        <a:rPr lang="zh-CN" sz="1100" kern="0">
                          <a:effectLst/>
                        </a:rPr>
                        <a:t>否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</a:rPr>
                        <a:t>RadioButton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 [1] 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Code list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1=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是</a:t>
                      </a:r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  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2=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否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243390"/>
                  </a:ext>
                </a:extLst>
              </a:tr>
              <a:tr h="172771">
                <a:tc gridSpan="7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提示文本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(PETXT)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LABEL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588856"/>
                  </a:ext>
                </a:extLst>
              </a:tr>
              <a:tr h="863855"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若否，请说明原因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(PEREASND)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受试者拒绝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其他，请详述</a:t>
                      </a:r>
                      <a:r>
                        <a:rPr lang="en-US" sz="1100" kern="0" dirty="0">
                          <a:effectLst/>
                        </a:rPr>
                        <a:t>________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</a:rPr>
                        <a:t>DropDownList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 [2]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Code list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1=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受试者拒绝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99=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其他，请详述</a:t>
                      </a:r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410277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检查日期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(PEDAT)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|_|_|_|_|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r>
                        <a:rPr lang="en-US" sz="1100" kern="0">
                          <a:effectLst/>
                        </a:rPr>
                        <a:t>|_|_|</a:t>
                      </a:r>
                      <a:r>
                        <a:rPr lang="zh-CN" sz="1100" kern="0">
                          <a:effectLst/>
                        </a:rPr>
                        <a:t>月</a:t>
                      </a:r>
                      <a:r>
                        <a:rPr lang="en-US" sz="1100" kern="0">
                          <a:effectLst/>
                        </a:rPr>
                        <a:t>|_|_|</a:t>
                      </a:r>
                      <a:r>
                        <a:rPr lang="zh-CN" sz="1100" kern="0">
                          <a:effectLst/>
                        </a:rPr>
                        <a:t>日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zh-CN" altLang="zh-CN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dd- mmm- </a:t>
                      </a:r>
                      <a:r>
                        <a:rPr lang="en-US" altLang="zh-CN" sz="1100" kern="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zh-CN" sz="1100" kern="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(calendar tool)</a:t>
                      </a:r>
                      <a:endParaRPr lang="zh-CN" altLang="en-US" sz="1100" kern="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71197"/>
                  </a:ext>
                </a:extLst>
              </a:tr>
              <a:tr h="12093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检查项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(PETEST)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highlight>
                            <a:srgbClr val="00FF00"/>
                          </a:highlight>
                        </a:rPr>
                        <a:t>Default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未查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(PESTAT)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Check[N1]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检查结果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(PERES)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</a:rPr>
                        <a:t>DropDownList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 [2]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Code list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1=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正常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2=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异常无临床意义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3=</a:t>
                      </a:r>
                      <a:r>
                        <a:rPr lang="zh-CN" sz="1100" kern="0" dirty="0">
                          <a:solidFill>
                            <a:srgbClr val="00B050"/>
                          </a:solidFill>
                          <a:effectLst/>
                        </a:rPr>
                        <a:t>异常有临床意义</a:t>
                      </a:r>
                      <a:endParaRPr lang="zh-CN" altLang="en-US" sz="1100" dirty="0">
                        <a:solidFill>
                          <a:srgbClr val="00B050"/>
                        </a:solidFill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如异常有临床意义</a:t>
                      </a:r>
                      <a:r>
                        <a:rPr lang="en-US" sz="1100" kern="0" dirty="0">
                          <a:effectLst/>
                        </a:rPr>
                        <a:t>_</a:t>
                      </a:r>
                      <a:r>
                        <a:rPr lang="zh-CN" sz="1100" kern="0" dirty="0">
                          <a:effectLst/>
                        </a:rPr>
                        <a:t>相关不良事件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(PECSAE)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Dynamic </a:t>
                      </a: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</a:rPr>
                        <a:t>SearchList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 [$200]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如异常有临床意义</a:t>
                      </a:r>
                      <a:r>
                        <a:rPr lang="en-US" sz="1100" kern="0" dirty="0">
                          <a:effectLst/>
                        </a:rPr>
                        <a:t>_</a:t>
                      </a:r>
                      <a:r>
                        <a:rPr lang="zh-CN" sz="1100" kern="0" dirty="0">
                          <a:effectLst/>
                        </a:rPr>
                        <a:t>相关既往病史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(PECSMH)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Dynamic </a:t>
                      </a:r>
                      <a:r>
                        <a:rPr lang="en-US" sz="1100" kern="0" dirty="0" err="1">
                          <a:solidFill>
                            <a:srgbClr val="00B050"/>
                          </a:solidFill>
                          <a:effectLst/>
                        </a:rPr>
                        <a:t>SearchList</a:t>
                      </a: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 [$200]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如异常，其他请详述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(PEOTH)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75210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一般情况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□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正常</a:t>
                      </a:r>
                      <a:r>
                        <a:rPr lang="en-US" sz="1100" kern="0" dirty="0">
                          <a:effectLst/>
                        </a:rPr>
                        <a:t>  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异常无临床意义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异常有临床意义</a:t>
                      </a:r>
                      <a:r>
                        <a:rPr lang="en-US" sz="1100" kern="0" dirty="0">
                          <a:effectLst/>
                        </a:rPr>
                        <a:t> </a:t>
                      </a:r>
                      <a:endParaRPr lang="zh-CN" altLang="en-US" sz="1100" dirty="0"/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44530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皮肤黏膜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□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正常</a:t>
                      </a:r>
                      <a:r>
                        <a:rPr lang="en-US" sz="1100" kern="0" dirty="0">
                          <a:effectLst/>
                        </a:rPr>
                        <a:t>  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异常无临床意义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○</a:t>
                      </a:r>
                      <a:r>
                        <a:rPr lang="zh-CN" sz="1100" kern="0" dirty="0">
                          <a:effectLst/>
                        </a:rPr>
                        <a:t>异常有临床意义</a:t>
                      </a:r>
                      <a:r>
                        <a:rPr lang="en-US" sz="1100" kern="0" dirty="0">
                          <a:effectLst/>
                        </a:rPr>
                        <a:t> </a:t>
                      </a:r>
                      <a:endParaRPr lang="zh-CN" altLang="en-US" sz="1100" dirty="0"/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722058"/>
                  </a:ext>
                </a:extLst>
              </a:tr>
              <a:tr h="180000">
                <a:tc gridSpan="7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highlight>
                            <a:srgbClr val="00FF00"/>
                          </a:highlight>
                        </a:rPr>
                        <a:t>[Add row]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686994"/>
                  </a:ext>
                </a:extLst>
              </a:tr>
              <a:tr h="288000">
                <a:tc grid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备注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(COMMENTS)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1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________________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B050"/>
                          </a:solidFill>
                          <a:effectLst/>
                        </a:rPr>
                        <a:t>Long Text [$200]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5334" marR="153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666501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A2DA711-DDFF-48F7-ACCC-3E2F0FFAD71D}"/>
              </a:ext>
            </a:extLst>
          </p:cNvPr>
          <p:cNvSpPr/>
          <p:nvPr/>
        </p:nvSpPr>
        <p:spPr>
          <a:xfrm>
            <a:off x="3790765" y="556702"/>
            <a:ext cx="75088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特点：列数一般不为</a:t>
            </a:r>
            <a:r>
              <a:rPr lang="en-US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列，或标志行有背景色填充（通常为灰色）。以</a:t>
            </a:r>
            <a:r>
              <a:rPr lang="en-US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[Add row]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标识符结束。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对于标志性的字段如</a:t>
            </a:r>
            <a:r>
              <a:rPr lang="en-US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PETEST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PCTPT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等，需要写好格式</a:t>
            </a:r>
            <a:r>
              <a:rPr lang="en-US" altLang="zh-CN" sz="1400" b="1" kern="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Default</a:t>
            </a:r>
            <a:r>
              <a:rPr lang="zh-CN" altLang="zh-CN" sz="14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，方便程序定位识别。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846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F7FEDE-F889-4939-8B2D-D34B557A090A}"/>
              </a:ext>
            </a:extLst>
          </p:cNvPr>
          <p:cNvSpPr txBox="1"/>
          <p:nvPr/>
        </p:nvSpPr>
        <p:spPr>
          <a:xfrm>
            <a:off x="346229" y="27520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各类表单类型的结构特点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7016B3-9691-4AB2-B05E-CBF371F48622}"/>
              </a:ext>
            </a:extLst>
          </p:cNvPr>
          <p:cNvSpPr/>
          <p:nvPr/>
        </p:nvSpPr>
        <p:spPr>
          <a:xfrm>
            <a:off x="889162" y="782000"/>
            <a:ext cx="661097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6. LAB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表单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推荐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marL="342900" indent="-342900" algn="just">
              <a:buFontTx/>
              <a:buAutoNum type="arabicPeriod" startAt="7"/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16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特点：分析物字段的格式为</a:t>
            </a:r>
            <a:r>
              <a:rPr lang="en-US" altLang="zh-CN" sz="16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LAB[]</a:t>
            </a:r>
            <a:r>
              <a:rPr lang="zh-CN" altLang="zh-CN" sz="16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6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其他和普通表单一样。</a:t>
            </a:r>
            <a:endParaRPr lang="zh-CN" altLang="zh-CN" sz="16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CF74F11-AEDD-4A2F-AF81-86382B9A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042294"/>
              </p:ext>
            </p:extLst>
          </p:nvPr>
        </p:nvGraphicFramePr>
        <p:xfrm>
          <a:off x="1038687" y="1812014"/>
          <a:ext cx="9259409" cy="4770777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3320249">
                  <a:extLst>
                    <a:ext uri="{9D8B030D-6E8A-4147-A177-3AD203B41FA5}">
                      <a16:colId xmlns:a16="http://schemas.microsoft.com/office/drawing/2014/main" val="3411005811"/>
                    </a:ext>
                  </a:extLst>
                </a:gridCol>
                <a:gridCol w="3044579">
                  <a:extLst>
                    <a:ext uri="{9D8B030D-6E8A-4147-A177-3AD203B41FA5}">
                      <a16:colId xmlns:a16="http://schemas.microsoft.com/office/drawing/2014/main" val="380887368"/>
                    </a:ext>
                  </a:extLst>
                </a:gridCol>
                <a:gridCol w="2894581">
                  <a:extLst>
                    <a:ext uri="{9D8B030D-6E8A-4147-A177-3AD203B41FA5}">
                      <a16:colId xmlns:a16="http://schemas.microsoft.com/office/drawing/2014/main" val="2908552603"/>
                    </a:ext>
                  </a:extLst>
                </a:gridCol>
              </a:tblGrid>
              <a:tr h="400997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Chemistry </a:t>
                      </a:r>
                      <a:r>
                        <a:rPr lang="en-US" sz="1400" kern="0" dirty="0">
                          <a:solidFill>
                            <a:srgbClr val="FF0000"/>
                          </a:solidFill>
                          <a:effectLst/>
                        </a:rPr>
                        <a:t>(LB_CHEM)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LAB2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746410"/>
                  </a:ext>
                </a:extLst>
              </a:tr>
              <a:tr h="6124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Was </a:t>
                      </a:r>
                      <a:r>
                        <a:rPr lang="en-US" sz="1100" kern="0" dirty="0">
                          <a:effectLst/>
                        </a:rPr>
                        <a:t>the</a:t>
                      </a:r>
                      <a:r>
                        <a:rPr lang="en-US" sz="1100" kern="100" dirty="0">
                          <a:effectLst/>
                        </a:rPr>
                        <a:t> sample for chemistry collected?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(LBPERF)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○ Yes    ○ No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B050"/>
                          </a:solidFill>
                          <a:effectLst/>
                        </a:rPr>
                        <a:t>RadioButton</a:t>
                      </a: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altLang="zh-CN" sz="1400" kern="0" dirty="0">
                          <a:solidFill>
                            <a:srgbClr val="00B050"/>
                          </a:solidFill>
                          <a:effectLst/>
                        </a:rPr>
                        <a:t>[1] </a:t>
                      </a:r>
                      <a:endParaRPr lang="zh-CN" sz="1400" kern="10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</a:rPr>
                        <a:t>1= Yes  2= No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539880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If not, please provide the reason.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(LBREASND)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________________________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B050"/>
                          </a:solidFill>
                          <a:effectLst/>
                        </a:rPr>
                        <a:t>LongText</a:t>
                      </a: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altLang="zh-CN" sz="1400" kern="0" dirty="0">
                          <a:solidFill>
                            <a:srgbClr val="00B050"/>
                          </a:solidFill>
                          <a:effectLst/>
                        </a:rPr>
                        <a:t>[$200] 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317210"/>
                  </a:ext>
                </a:extLst>
              </a:tr>
              <a:tr h="48714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Sample Collection Date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(LBDAT)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|_|_| |_|_|_| |_|_|_|_|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dd mmm </a:t>
                      </a:r>
                      <a:r>
                        <a:rPr lang="en-US" sz="1400" kern="0" dirty="0" err="1">
                          <a:effectLst/>
                        </a:rPr>
                        <a:t>yyyy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B050"/>
                          </a:solidFill>
                          <a:effectLst/>
                        </a:rPr>
                        <a:t>DateTime</a:t>
                      </a: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</a:rPr>
                        <a:t> [YYYY-MM-DD]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304662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Magnesium (Mg)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(MG)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      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LAB[8.3]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851112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Phosphorus (P)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 (P)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      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LAB[8.3]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647742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Serum lipase (LPS)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(LIP)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      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LAB[8.3]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093760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Serum amylase (AMY)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(AMY)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      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LAB[8.3]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208175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Total cholesterol (TC)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(TC)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LAB[8.3]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103014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Triglycerides(TG)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(TG)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LAB[8.3]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980752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High-density lipoprotein(HDL)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(HDL)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LAB[8.3]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987112"/>
                  </a:ext>
                </a:extLst>
              </a:tr>
              <a:tr h="4622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Creatinine Clearance (</a:t>
                      </a:r>
                      <a:r>
                        <a:rPr lang="en-US" sz="1100" kern="100" dirty="0" err="1">
                          <a:effectLst/>
                        </a:rPr>
                        <a:t>CrCl</a:t>
                      </a:r>
                      <a:r>
                        <a:rPr lang="en-US" sz="1100" kern="100" dirty="0">
                          <a:effectLst/>
                        </a:rPr>
                        <a:t>)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(CRCL)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|_|_||_|_|_|.|_|_|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</a:rPr>
                        <a:t>Text[5.2]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830385"/>
                  </a:ext>
                </a:extLst>
              </a:tr>
              <a:tr h="311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Creatinine Clearance Unit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(CRCLU)</a:t>
                      </a:r>
                      <a:endParaRPr lang="zh-CN" sz="11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mL/min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B050"/>
                          </a:solidFill>
                          <a:effectLst/>
                        </a:rPr>
                        <a:t>Default Value</a:t>
                      </a:r>
                      <a:endParaRPr lang="zh-CN" sz="1100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960" marR="6796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51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768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CBEE056A-8AE4-495B-BCE7-87D2EBEF3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19" y="1664493"/>
            <a:ext cx="7861535" cy="4703764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F4E97AE-CF10-4129-86F7-DA306DA24A09}"/>
              </a:ext>
            </a:extLst>
          </p:cNvPr>
          <p:cNvCxnSpPr>
            <a:cxnSpLocks/>
          </p:cNvCxnSpPr>
          <p:nvPr/>
        </p:nvCxnSpPr>
        <p:spPr>
          <a:xfrm>
            <a:off x="2604246" y="1346234"/>
            <a:ext cx="1276153" cy="13156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26F660C-7280-47D7-9E7C-4A8B9D42D462}"/>
              </a:ext>
            </a:extLst>
          </p:cNvPr>
          <p:cNvSpPr txBox="1"/>
          <p:nvPr/>
        </p:nvSpPr>
        <p:spPr>
          <a:xfrm>
            <a:off x="802342" y="878247"/>
            <a:ext cx="3035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上传前请为注释版</a:t>
            </a:r>
            <a:r>
              <a:rPr lang="en-US" altLang="zh-CN" sz="1400" dirty="0">
                <a:solidFill>
                  <a:srgbClr val="FF0000"/>
                </a:solidFill>
              </a:rPr>
              <a:t>CRF</a:t>
            </a:r>
            <a:r>
              <a:rPr lang="zh-CN" altLang="en-US" sz="1400" dirty="0">
                <a:solidFill>
                  <a:srgbClr val="FF0000"/>
                </a:solidFill>
              </a:rPr>
              <a:t>进行标识符标注，方便程序识别检查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754280C-E79E-4F33-BB2A-EDAA949EF54B}"/>
              </a:ext>
            </a:extLst>
          </p:cNvPr>
          <p:cNvCxnSpPr>
            <a:cxnSpLocks/>
          </p:cNvCxnSpPr>
          <p:nvPr/>
        </p:nvCxnSpPr>
        <p:spPr>
          <a:xfrm flipH="1">
            <a:off x="8026932" y="1448311"/>
            <a:ext cx="1043425" cy="1473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30A1652-AB58-4610-9222-FF79A77CBC49}"/>
              </a:ext>
            </a:extLst>
          </p:cNvPr>
          <p:cNvSpPr txBox="1"/>
          <p:nvPr/>
        </p:nvSpPr>
        <p:spPr>
          <a:xfrm>
            <a:off x="7030778" y="770525"/>
            <a:ext cx="30357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根据日志提示的格式错误，逐一修改，保存后再次解析，直至所有表单全部通过程序检查。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217E980-7CD6-49AC-9583-70EF30217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72" y="3348052"/>
            <a:ext cx="4373571" cy="1175740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E8D8565-3EB3-41A7-A638-31DA9780AB72}"/>
              </a:ext>
            </a:extLst>
          </p:cNvPr>
          <p:cNvCxnSpPr/>
          <p:nvPr/>
        </p:nvCxnSpPr>
        <p:spPr>
          <a:xfrm>
            <a:off x="7879717" y="3049183"/>
            <a:ext cx="1331710" cy="6066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0A7BDB70-360E-4A3C-A018-7040D3ACF8A6}"/>
              </a:ext>
            </a:extLst>
          </p:cNvPr>
          <p:cNvSpPr txBox="1"/>
          <p:nvPr/>
        </p:nvSpPr>
        <p:spPr>
          <a:xfrm>
            <a:off x="8545572" y="2976723"/>
            <a:ext cx="1448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详情见日志中心</a:t>
            </a:r>
          </a:p>
        </p:txBody>
      </p:sp>
    </p:spTree>
    <p:extLst>
      <p:ext uri="{BB962C8B-B14F-4D97-AF65-F5344CB8AC3E}">
        <p14:creationId xmlns:p14="http://schemas.microsoft.com/office/powerpoint/2010/main" val="236142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7E8138C-62BD-470B-A363-2DB81775ED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62"/>
          <a:stretch/>
        </p:blipFill>
        <p:spPr>
          <a:xfrm>
            <a:off x="4338797" y="1871851"/>
            <a:ext cx="6156111" cy="457689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9AF59AD-CAED-4417-A815-6BCD53DAF62E}"/>
              </a:ext>
            </a:extLst>
          </p:cNvPr>
          <p:cNvSpPr txBox="1"/>
          <p:nvPr/>
        </p:nvSpPr>
        <p:spPr>
          <a:xfrm>
            <a:off x="408373" y="319596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</a:t>
            </a:r>
            <a:r>
              <a:rPr lang="en-US" altLang="zh-CN" dirty="0"/>
              <a:t>. </a:t>
            </a:r>
            <a:r>
              <a:rPr lang="zh-CN" altLang="en-US" dirty="0"/>
              <a:t>界面介绍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689EA9-BB81-4282-A20D-F7EDDDD92CCE}"/>
              </a:ext>
            </a:extLst>
          </p:cNvPr>
          <p:cNvSpPr txBox="1"/>
          <p:nvPr/>
        </p:nvSpPr>
        <p:spPr>
          <a:xfrm>
            <a:off x="941033" y="754602"/>
            <a:ext cx="5229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只有</a:t>
            </a:r>
            <a:r>
              <a:rPr lang="en-US" altLang="zh-CN" sz="1600" dirty="0"/>
              <a:t>CRF</a:t>
            </a:r>
            <a:r>
              <a:rPr lang="zh-CN" altLang="en-US" sz="1600" dirty="0"/>
              <a:t>的格式校验通过了，</a:t>
            </a:r>
            <a:r>
              <a:rPr lang="en-US" altLang="zh-CN" sz="1600" dirty="0"/>
              <a:t>UI</a:t>
            </a:r>
            <a:r>
              <a:rPr lang="zh-CN" altLang="en-US" sz="1600" dirty="0"/>
              <a:t>才会显示后续的提取按钮</a:t>
            </a:r>
            <a:endParaRPr lang="en-US" altLang="zh-CN" sz="1600" dirty="0"/>
          </a:p>
          <a:p>
            <a:r>
              <a:rPr lang="zh-CN" altLang="en-US" sz="1600" dirty="0"/>
              <a:t>按照</a:t>
            </a:r>
            <a:r>
              <a:rPr lang="en-US" altLang="zh-CN" sz="1600" dirty="0"/>
              <a:t>UI</a:t>
            </a:r>
            <a:r>
              <a:rPr lang="zh-CN" altLang="en-US" sz="1600" dirty="0"/>
              <a:t>提示，一步一步提取</a:t>
            </a:r>
            <a:r>
              <a:rPr lang="en-US" altLang="zh-CN" sz="1600" dirty="0"/>
              <a:t>CRF</a:t>
            </a:r>
            <a:r>
              <a:rPr lang="zh-CN" altLang="en-US" sz="1600" dirty="0"/>
              <a:t>信息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FA88CD1-C1E8-459D-83C3-293567E45EAD}"/>
              </a:ext>
            </a:extLst>
          </p:cNvPr>
          <p:cNvCxnSpPr>
            <a:cxnSpLocks/>
          </p:cNvCxnSpPr>
          <p:nvPr/>
        </p:nvCxnSpPr>
        <p:spPr>
          <a:xfrm flipH="1">
            <a:off x="3653245" y="3279577"/>
            <a:ext cx="1016946" cy="154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F51E910-ADBE-49B8-911E-F026450572F5}"/>
              </a:ext>
            </a:extLst>
          </p:cNvPr>
          <p:cNvSpPr txBox="1"/>
          <p:nvPr/>
        </p:nvSpPr>
        <p:spPr>
          <a:xfrm>
            <a:off x="311400" y="3067525"/>
            <a:ext cx="2340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不借助</a:t>
            </a:r>
            <a:r>
              <a:rPr lang="en-US" altLang="zh-CN" sz="1400" dirty="0">
                <a:solidFill>
                  <a:srgbClr val="FF0000"/>
                </a:solidFill>
              </a:rPr>
              <a:t>AI</a:t>
            </a:r>
            <a:r>
              <a:rPr lang="zh-CN" altLang="en-US" sz="1400" dirty="0">
                <a:solidFill>
                  <a:srgbClr val="FF0000"/>
                </a:solidFill>
              </a:rPr>
              <a:t>，运行完毕后输出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C40DD1-1C88-4386-8234-0E9C8E636D79}"/>
              </a:ext>
            </a:extLst>
          </p:cNvPr>
          <p:cNvSpPr txBox="1"/>
          <p:nvPr/>
        </p:nvSpPr>
        <p:spPr>
          <a:xfrm>
            <a:off x="311400" y="4152888"/>
            <a:ext cx="2138727" cy="281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借助</a:t>
            </a:r>
            <a:r>
              <a:rPr lang="en-US" altLang="zh-CN" sz="1400" dirty="0">
                <a:solidFill>
                  <a:srgbClr val="FF0000"/>
                </a:solidFill>
              </a:rPr>
              <a:t>AI</a:t>
            </a:r>
            <a:r>
              <a:rPr lang="zh-CN" altLang="en-US" sz="1400" dirty="0">
                <a:solidFill>
                  <a:srgbClr val="FF0000"/>
                </a:solidFill>
              </a:rPr>
              <a:t>，运行完毕后输出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357A8B1-7523-491E-8D07-68464A0BE46D}"/>
              </a:ext>
            </a:extLst>
          </p:cNvPr>
          <p:cNvCxnSpPr>
            <a:cxnSpLocks/>
          </p:cNvCxnSpPr>
          <p:nvPr/>
        </p:nvCxnSpPr>
        <p:spPr>
          <a:xfrm flipH="1">
            <a:off x="3643780" y="4057552"/>
            <a:ext cx="1026411" cy="1075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2BA05ECD-84E6-4E59-B943-F62D66896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904" y="5019910"/>
            <a:ext cx="1285875" cy="28575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69779037-1476-4552-B7F9-5C3943AB70E2}"/>
              </a:ext>
            </a:extLst>
          </p:cNvPr>
          <p:cNvSpPr txBox="1"/>
          <p:nvPr/>
        </p:nvSpPr>
        <p:spPr>
          <a:xfrm>
            <a:off x="311400" y="4951631"/>
            <a:ext cx="2138727" cy="281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借助</a:t>
            </a:r>
            <a:r>
              <a:rPr lang="en-US" altLang="zh-CN" sz="1400" dirty="0">
                <a:solidFill>
                  <a:srgbClr val="FF0000"/>
                </a:solidFill>
              </a:rPr>
              <a:t>AI</a:t>
            </a:r>
            <a:r>
              <a:rPr lang="zh-CN" altLang="en-US" sz="1400" dirty="0">
                <a:solidFill>
                  <a:srgbClr val="FF0000"/>
                </a:solidFill>
              </a:rPr>
              <a:t>，运行完毕后输出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C2CA2A7-A619-4515-A2F3-7E96E9CA7F3C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941482" y="1544360"/>
            <a:ext cx="1134236" cy="18309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45DA8D9-5EE0-4197-93CC-DFA93D524E3E}"/>
              </a:ext>
            </a:extLst>
          </p:cNvPr>
          <p:cNvSpPr txBox="1"/>
          <p:nvPr/>
        </p:nvSpPr>
        <p:spPr>
          <a:xfrm>
            <a:off x="8159167" y="1021140"/>
            <a:ext cx="3833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如果中途出现报错，需要重新开始，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>
                <a:solidFill>
                  <a:srgbClr val="FF0000"/>
                </a:solidFill>
              </a:rPr>
              <a:t>常见的错误有：</a:t>
            </a:r>
            <a:r>
              <a:rPr lang="en-US" altLang="zh-CN" sz="1400" dirty="0">
                <a:solidFill>
                  <a:srgbClr val="FF0000"/>
                </a:solidFill>
              </a:rPr>
              <a:t>AI</a:t>
            </a:r>
            <a:r>
              <a:rPr lang="zh-CN" altLang="en-US" sz="1400" dirty="0">
                <a:solidFill>
                  <a:srgbClr val="FF0000"/>
                </a:solidFill>
              </a:rPr>
              <a:t>宕机、</a:t>
            </a:r>
            <a:r>
              <a:rPr lang="en-US" altLang="zh-CN" sz="1400" dirty="0">
                <a:solidFill>
                  <a:srgbClr val="FF0000"/>
                </a:solidFill>
              </a:rPr>
              <a:t>token</a:t>
            </a:r>
            <a:r>
              <a:rPr lang="zh-CN" altLang="en-US" sz="1400" dirty="0">
                <a:solidFill>
                  <a:srgbClr val="FF0000"/>
                </a:solidFill>
              </a:rPr>
              <a:t>耗尽、风控报警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29FDF98-66FD-45AA-B1F3-EA1D280D6548}"/>
              </a:ext>
            </a:extLst>
          </p:cNvPr>
          <p:cNvSpPr/>
          <p:nvPr/>
        </p:nvSpPr>
        <p:spPr>
          <a:xfrm>
            <a:off x="235895" y="5352235"/>
            <a:ext cx="3481450" cy="6619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step4</a:t>
            </a:r>
            <a:r>
              <a:rPr lang="zh-CN" altLang="en-US" sz="1200" dirty="0"/>
              <a:t>：由于表单非常众多，如果中途报错被迫停止，程序会输出已经提取的字段至</a:t>
            </a:r>
            <a:r>
              <a:rPr lang="en-US" altLang="zh-CN" sz="1200" dirty="0"/>
              <a:t>xlsx</a:t>
            </a:r>
            <a:r>
              <a:rPr lang="zh-CN" altLang="en-US" sz="1200" dirty="0"/>
              <a:t>文件中，确保不会前功尽弃。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1D1E591-50BB-44B0-A8E9-C4F902F269BE}"/>
              </a:ext>
            </a:extLst>
          </p:cNvPr>
          <p:cNvSpPr/>
          <p:nvPr/>
        </p:nvSpPr>
        <p:spPr>
          <a:xfrm>
            <a:off x="270901" y="3753343"/>
            <a:ext cx="3580029" cy="3700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step3</a:t>
            </a:r>
            <a:r>
              <a:rPr lang="zh-CN" altLang="en-US" sz="1200" dirty="0"/>
              <a:t>：</a:t>
            </a:r>
            <a:r>
              <a:rPr lang="en-US" altLang="zh-CN" sz="1200" dirty="0" err="1"/>
              <a:t>codeList</a:t>
            </a:r>
            <a:r>
              <a:rPr lang="zh-CN" altLang="en-US" sz="1200" dirty="0"/>
              <a:t>会以字段</a:t>
            </a:r>
            <a:r>
              <a:rPr lang="en-US" altLang="zh-CN" sz="1200" dirty="0"/>
              <a:t>OID</a:t>
            </a:r>
            <a:r>
              <a:rPr lang="zh-CN" altLang="en-US" sz="1200" dirty="0"/>
              <a:t>为关键字，进行去重。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E2EBECBA-AF30-463D-A842-8C77085DD3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795" b="-1879"/>
          <a:stretch/>
        </p:blipFill>
        <p:spPr>
          <a:xfrm>
            <a:off x="2357904" y="4196451"/>
            <a:ext cx="1493026" cy="281414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48E1B26-C298-4EE8-BFC0-2469E7900ACD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3850930" y="3688831"/>
            <a:ext cx="764030" cy="2495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21B30617-E210-4800-862B-986FB1A8C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094" y="3083281"/>
            <a:ext cx="1066949" cy="2762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3DD7F28-4287-4B74-842D-7DE252FD70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0301" y="3359141"/>
            <a:ext cx="4279837" cy="10747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A2340C7-45E0-4DB1-BAAA-D45839D9022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7334"/>
          <a:stretch/>
        </p:blipFill>
        <p:spPr>
          <a:xfrm>
            <a:off x="6110300" y="4293595"/>
            <a:ext cx="4279837" cy="1178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DBD701C-B231-48FD-BF19-F29C3989FD69}"/>
              </a:ext>
            </a:extLst>
          </p:cNvPr>
          <p:cNvSpPr/>
          <p:nvPr/>
        </p:nvSpPr>
        <p:spPr>
          <a:xfrm>
            <a:off x="235895" y="6070552"/>
            <a:ext cx="3481450" cy="6619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/>
              <a:t>备注：如果要给分析物匹配上</a:t>
            </a:r>
            <a:r>
              <a:rPr lang="en-US" altLang="zh-CN" sz="1200" dirty="0"/>
              <a:t>lab</a:t>
            </a:r>
            <a:r>
              <a:rPr lang="zh-CN" altLang="en-US" sz="1200" dirty="0"/>
              <a:t>字段，需要提前在</a:t>
            </a:r>
            <a:r>
              <a:rPr lang="en-US" altLang="zh-CN" sz="1200" dirty="0"/>
              <a:t>\Config\</a:t>
            </a:r>
            <a:r>
              <a:rPr lang="en-US" altLang="zh-CN" sz="1200" dirty="0" err="1"/>
              <a:t>analytes.json</a:t>
            </a:r>
            <a:r>
              <a:rPr lang="zh-CN" altLang="en-US" sz="1200" dirty="0"/>
              <a:t>中进行配置</a:t>
            </a:r>
          </a:p>
        </p:txBody>
      </p:sp>
    </p:spTree>
    <p:extLst>
      <p:ext uri="{BB962C8B-B14F-4D97-AF65-F5344CB8AC3E}">
        <p14:creationId xmlns:p14="http://schemas.microsoft.com/office/powerpoint/2010/main" val="247053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6C60FA4-9970-451C-82FE-9F35E2813F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3987"/>
          <a:stretch/>
        </p:blipFill>
        <p:spPr>
          <a:xfrm>
            <a:off x="710362" y="1273947"/>
            <a:ext cx="7402637" cy="268499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697A069-2784-4A82-BA1C-C3DE55B35196}"/>
              </a:ext>
            </a:extLst>
          </p:cNvPr>
          <p:cNvSpPr txBox="1"/>
          <p:nvPr/>
        </p:nvSpPr>
        <p:spPr>
          <a:xfrm>
            <a:off x="408373" y="319596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组装</a:t>
            </a:r>
            <a:r>
              <a:rPr lang="en-US" altLang="zh-CN" dirty="0"/>
              <a:t>SDS</a:t>
            </a:r>
            <a:r>
              <a:rPr lang="zh-CN" altLang="en-US" dirty="0"/>
              <a:t>文件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5180C1-895A-479D-B018-236E3F43C97E}"/>
              </a:ext>
            </a:extLst>
          </p:cNvPr>
          <p:cNvSpPr txBox="1"/>
          <p:nvPr/>
        </p:nvSpPr>
        <p:spPr>
          <a:xfrm>
            <a:off x="727969" y="772359"/>
            <a:ext cx="318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 新建草稿，下载</a:t>
            </a:r>
            <a:r>
              <a:rPr lang="en-US" altLang="zh-CN" dirty="0"/>
              <a:t>SDS</a:t>
            </a:r>
            <a:r>
              <a:rPr lang="zh-CN" altLang="en-US" dirty="0"/>
              <a:t>模板。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041F1A8-F56F-4C87-9575-4AE339120108}"/>
              </a:ext>
            </a:extLst>
          </p:cNvPr>
          <p:cNvSpPr/>
          <p:nvPr/>
        </p:nvSpPr>
        <p:spPr>
          <a:xfrm>
            <a:off x="6744781" y="3708773"/>
            <a:ext cx="1529208" cy="38242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D60774-6CC2-4C9B-9703-DBED8B4D7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43" y="4757521"/>
            <a:ext cx="7931618" cy="186140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B0276F6-390B-4278-B37B-91EFC9839D16}"/>
              </a:ext>
            </a:extLst>
          </p:cNvPr>
          <p:cNvSpPr txBox="1"/>
          <p:nvPr/>
        </p:nvSpPr>
        <p:spPr>
          <a:xfrm>
            <a:off x="727969" y="4200202"/>
            <a:ext cx="280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② 添加必要的基本信息。</a:t>
            </a:r>
          </a:p>
        </p:txBody>
      </p:sp>
    </p:spTree>
    <p:extLst>
      <p:ext uri="{BB962C8B-B14F-4D97-AF65-F5344CB8AC3E}">
        <p14:creationId xmlns:p14="http://schemas.microsoft.com/office/powerpoint/2010/main" val="1438810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697A069-2784-4A82-BA1C-C3DE55B35196}"/>
              </a:ext>
            </a:extLst>
          </p:cNvPr>
          <p:cNvSpPr txBox="1"/>
          <p:nvPr/>
        </p:nvSpPr>
        <p:spPr>
          <a:xfrm>
            <a:off x="408373" y="319596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组装</a:t>
            </a:r>
            <a:r>
              <a:rPr lang="en-US" altLang="zh-CN" dirty="0"/>
              <a:t>SDS</a:t>
            </a:r>
            <a:r>
              <a:rPr lang="zh-CN" altLang="en-US" dirty="0"/>
              <a:t>文件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5180C1-895A-479D-B018-236E3F43C97E}"/>
              </a:ext>
            </a:extLst>
          </p:cNvPr>
          <p:cNvSpPr txBox="1"/>
          <p:nvPr/>
        </p:nvSpPr>
        <p:spPr>
          <a:xfrm>
            <a:off x="878889" y="1384918"/>
            <a:ext cx="5336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③ 使用</a:t>
            </a:r>
            <a:r>
              <a:rPr lang="en-US" altLang="zh-CN" dirty="0"/>
              <a:t>AI</a:t>
            </a:r>
            <a:r>
              <a:rPr lang="zh-CN" altLang="en-US" dirty="0"/>
              <a:t>生成的</a:t>
            </a:r>
            <a:r>
              <a:rPr lang="en-US" altLang="zh-CN" dirty="0"/>
              <a:t>excel</a:t>
            </a:r>
            <a:r>
              <a:rPr lang="zh-CN" altLang="en-US" dirty="0"/>
              <a:t>替换</a:t>
            </a:r>
            <a:r>
              <a:rPr lang="en-US" altLang="zh-CN" dirty="0"/>
              <a:t>SDS</a:t>
            </a:r>
            <a:r>
              <a:rPr lang="zh-CN" altLang="en-US" dirty="0"/>
              <a:t>模板中对应的</a:t>
            </a:r>
            <a:r>
              <a:rPr lang="en-US" altLang="zh-CN" dirty="0"/>
              <a:t>sheet</a:t>
            </a:r>
            <a:r>
              <a:rPr lang="zh-CN" altLang="en-US" dirty="0"/>
              <a:t>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B5A2E79-0AEF-4AB6-9129-EFD2F658D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507" y="1521320"/>
            <a:ext cx="1619250" cy="2762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704E237-B45A-42CE-956A-DC88BBAB4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465" y="1774704"/>
            <a:ext cx="1285875" cy="2857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CF21AD9-0734-4982-A25D-1BE7C95FC879}"/>
              </a:ext>
            </a:extLst>
          </p:cNvPr>
          <p:cNvSpPr txBox="1"/>
          <p:nvPr/>
        </p:nvSpPr>
        <p:spPr>
          <a:xfrm>
            <a:off x="878889" y="2556771"/>
            <a:ext cx="6117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④ 上传</a:t>
            </a:r>
            <a:r>
              <a:rPr lang="en-US" altLang="zh-CN" dirty="0"/>
              <a:t>SDS</a:t>
            </a:r>
            <a:r>
              <a:rPr lang="zh-CN" altLang="en-US" dirty="0"/>
              <a:t>文件，根据系统的报错提示，修改</a:t>
            </a:r>
            <a:r>
              <a:rPr lang="en-US" altLang="zh-CN" dirty="0"/>
              <a:t>SDS</a:t>
            </a:r>
            <a:r>
              <a:rPr lang="zh-CN" altLang="en-US" dirty="0"/>
              <a:t>文件。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C5BF380-8540-458B-A883-72713DFC0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661" y="1203491"/>
            <a:ext cx="1066949" cy="2762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E54855-7CD2-4E94-8E95-6B9B45D829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851" y="3067695"/>
            <a:ext cx="3137061" cy="20702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3BBEFD0-DF9B-44D1-BEE0-100B5882FDA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"/>
          <a:stretch/>
        </p:blipFill>
        <p:spPr>
          <a:xfrm>
            <a:off x="5040359" y="3067695"/>
            <a:ext cx="4365962" cy="387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44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6">
            <a:extLst>
              <a:ext uri="{FF2B5EF4-FFF2-40B4-BE49-F238E27FC236}">
                <a16:creationId xmlns:a16="http://schemas.microsoft.com/office/drawing/2014/main" id="{C64E0296-75EC-4B48-A29D-C39DF829BE38}"/>
              </a:ext>
            </a:extLst>
          </p:cNvPr>
          <p:cNvSpPr txBox="1">
            <a:spLocks/>
          </p:cNvSpPr>
          <p:nvPr/>
        </p:nvSpPr>
        <p:spPr>
          <a:xfrm>
            <a:off x="541780" y="962233"/>
            <a:ext cx="7685967" cy="7206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Matrix</a:t>
            </a:r>
            <a:r>
              <a:rPr lang="zh-CN" altLang="en-US" dirty="0"/>
              <a:t>快速生成使用指南</a:t>
            </a:r>
          </a:p>
        </p:txBody>
      </p:sp>
    </p:spTree>
    <p:extLst>
      <p:ext uri="{BB962C8B-B14F-4D97-AF65-F5344CB8AC3E}">
        <p14:creationId xmlns:p14="http://schemas.microsoft.com/office/powerpoint/2010/main" val="3095567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AEEB7C8-7EF3-4EEE-85A4-3A4FA69FFB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57124" y="2173407"/>
            <a:ext cx="4881915" cy="255866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65E2518-B429-46CD-99E7-65626B6CAD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67542" y="435693"/>
            <a:ext cx="4871497" cy="150516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3D3DC8-71F6-4E9F-8E83-B0F73A6243D7}"/>
              </a:ext>
            </a:extLst>
          </p:cNvPr>
          <p:cNvSpPr txBox="1"/>
          <p:nvPr/>
        </p:nvSpPr>
        <p:spPr>
          <a:xfrm>
            <a:off x="79358" y="389495"/>
            <a:ext cx="1980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先在项目入口上传</a:t>
            </a:r>
            <a:r>
              <a:rPr lang="en-US" altLang="zh-CN" dirty="0"/>
              <a:t>SDS</a:t>
            </a:r>
            <a:r>
              <a:rPr lang="zh-CN" altLang="en-US" dirty="0"/>
              <a:t>文件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6C50A86-6A1A-4AB0-A563-1AE60C489E4B}"/>
              </a:ext>
            </a:extLst>
          </p:cNvPr>
          <p:cNvCxnSpPr/>
          <p:nvPr/>
        </p:nvCxnSpPr>
        <p:spPr>
          <a:xfrm>
            <a:off x="1798115" y="2595908"/>
            <a:ext cx="718019" cy="257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A773243-1C33-4FB6-8F79-3B8F2A60E6DE}"/>
              </a:ext>
            </a:extLst>
          </p:cNvPr>
          <p:cNvCxnSpPr>
            <a:cxnSpLocks/>
          </p:cNvCxnSpPr>
          <p:nvPr/>
        </p:nvCxnSpPr>
        <p:spPr>
          <a:xfrm flipV="1">
            <a:off x="1877895" y="3092999"/>
            <a:ext cx="638239" cy="1963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15E80BA-394E-4638-AACD-B008E535FBE4}"/>
              </a:ext>
            </a:extLst>
          </p:cNvPr>
          <p:cNvSpPr txBox="1"/>
          <p:nvPr/>
        </p:nvSpPr>
        <p:spPr>
          <a:xfrm>
            <a:off x="260852" y="2408732"/>
            <a:ext cx="16170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2. </a:t>
            </a:r>
            <a:r>
              <a:rPr lang="zh-CN" altLang="en-US" sz="1100" dirty="0"/>
              <a:t>如果事先不在项目入口上传，可以在这里上传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F4DC8C-7D07-4830-B464-80B7DCA7995A}"/>
              </a:ext>
            </a:extLst>
          </p:cNvPr>
          <p:cNvSpPr txBox="1"/>
          <p:nvPr/>
        </p:nvSpPr>
        <p:spPr>
          <a:xfrm>
            <a:off x="224031" y="3123745"/>
            <a:ext cx="1617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2. </a:t>
            </a:r>
            <a:r>
              <a:rPr lang="zh-CN" altLang="en-US" sz="1100" dirty="0"/>
              <a:t>如果使用项目入口上传的文件，点击此处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5D32D9-DF9A-4250-894A-497DBE0D9D43}"/>
              </a:ext>
            </a:extLst>
          </p:cNvPr>
          <p:cNvSpPr/>
          <p:nvPr/>
        </p:nvSpPr>
        <p:spPr>
          <a:xfrm>
            <a:off x="6096000" y="1055549"/>
            <a:ext cx="795753" cy="3804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3F38C1-7C1F-4238-AF7C-14DFC4B48E8F}"/>
              </a:ext>
            </a:extLst>
          </p:cNvPr>
          <p:cNvSpPr txBox="1"/>
          <p:nvPr/>
        </p:nvSpPr>
        <p:spPr>
          <a:xfrm>
            <a:off x="7720237" y="466439"/>
            <a:ext cx="241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r>
              <a:rPr lang="en-US" altLang="zh-CN" dirty="0"/>
              <a:t>3. </a:t>
            </a:r>
            <a:r>
              <a:rPr lang="zh-CN" altLang="en-US" dirty="0"/>
              <a:t>线下整理</a:t>
            </a:r>
            <a:r>
              <a:rPr lang="en-US" altLang="zh-CN" dirty="0"/>
              <a:t>matrix</a:t>
            </a:r>
            <a:r>
              <a:rPr lang="zh-CN" altLang="en-US" dirty="0"/>
              <a:t>文件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DD4E86C-0CEB-4DE3-B448-62D454888F05}"/>
              </a:ext>
            </a:extLst>
          </p:cNvPr>
          <p:cNvCxnSpPr>
            <a:cxnSpLocks/>
          </p:cNvCxnSpPr>
          <p:nvPr/>
        </p:nvCxnSpPr>
        <p:spPr>
          <a:xfrm flipV="1">
            <a:off x="1841074" y="3849105"/>
            <a:ext cx="675060" cy="569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258B9A5-89C4-44D8-B4AF-BE85FBFA499C}"/>
              </a:ext>
            </a:extLst>
          </p:cNvPr>
          <p:cNvSpPr txBox="1"/>
          <p:nvPr/>
        </p:nvSpPr>
        <p:spPr>
          <a:xfrm>
            <a:off x="186807" y="4287976"/>
            <a:ext cx="16914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r>
              <a:rPr lang="en-US" altLang="zh-CN" dirty="0"/>
              <a:t>4. </a:t>
            </a:r>
            <a:r>
              <a:rPr lang="zh-CN" altLang="en-US" dirty="0"/>
              <a:t>上传</a:t>
            </a:r>
            <a:r>
              <a:rPr lang="en-US" altLang="zh-CN" dirty="0"/>
              <a:t>matrix</a:t>
            </a:r>
            <a:r>
              <a:rPr lang="zh-CN" altLang="en-US" dirty="0"/>
              <a:t>文件并解析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5CDC23-8FB5-449D-955B-E5223B1EE49C}"/>
              </a:ext>
            </a:extLst>
          </p:cNvPr>
          <p:cNvSpPr/>
          <p:nvPr/>
        </p:nvSpPr>
        <p:spPr>
          <a:xfrm>
            <a:off x="3550715" y="2964539"/>
            <a:ext cx="2678251" cy="420104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B3309A-D028-4AF4-9349-2BFD6A6FA65A}"/>
              </a:ext>
            </a:extLst>
          </p:cNvPr>
          <p:cNvSpPr txBox="1"/>
          <p:nvPr/>
        </p:nvSpPr>
        <p:spPr>
          <a:xfrm>
            <a:off x="375997" y="4521120"/>
            <a:ext cx="17351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r>
              <a:rPr lang="zh-CN" altLang="en-US" sz="900" dirty="0">
                <a:solidFill>
                  <a:srgbClr val="FF0000"/>
                </a:solidFill>
              </a:rPr>
              <a:t>需要根据警告信息，排查错误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39E0F8-DE83-4F89-B908-8DF4F702B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064" y="799141"/>
            <a:ext cx="5106936" cy="411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6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F52A84-400F-4AAC-A250-0AE71A7CE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957" y="1279429"/>
            <a:ext cx="4885350" cy="463544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C9FD957-64BC-4E0D-BBA4-0B3B90C88663}"/>
              </a:ext>
            </a:extLst>
          </p:cNvPr>
          <p:cNvSpPr txBox="1"/>
          <p:nvPr/>
        </p:nvSpPr>
        <p:spPr>
          <a:xfrm>
            <a:off x="408373" y="319596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组装、上传</a:t>
            </a:r>
            <a:r>
              <a:rPr lang="en-US" altLang="zh-CN" dirty="0"/>
              <a:t>SDS</a:t>
            </a:r>
            <a:r>
              <a:rPr lang="zh-CN" altLang="en-US" dirty="0"/>
              <a:t>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4F0AC0-D3F5-45A3-B3FA-109A26204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73" y="1279429"/>
            <a:ext cx="5323941" cy="463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46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6">
            <a:extLst>
              <a:ext uri="{FF2B5EF4-FFF2-40B4-BE49-F238E27FC236}">
                <a16:creationId xmlns:a16="http://schemas.microsoft.com/office/drawing/2014/main" id="{E3D212B8-BBDC-4762-93D3-2143A84E0A02}"/>
              </a:ext>
            </a:extLst>
          </p:cNvPr>
          <p:cNvSpPr txBox="1">
            <a:spLocks/>
          </p:cNvSpPr>
          <p:nvPr/>
        </p:nvSpPr>
        <p:spPr>
          <a:xfrm>
            <a:off x="541780" y="962233"/>
            <a:ext cx="7685967" cy="7206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Quick Edit</a:t>
            </a:r>
            <a:r>
              <a:rPr lang="zh-CN" altLang="en-US" dirty="0"/>
              <a:t>生成器使用指南</a:t>
            </a:r>
          </a:p>
        </p:txBody>
      </p:sp>
    </p:spTree>
    <p:extLst>
      <p:ext uri="{BB962C8B-B14F-4D97-AF65-F5344CB8AC3E}">
        <p14:creationId xmlns:p14="http://schemas.microsoft.com/office/powerpoint/2010/main" val="3850064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E08836-D913-4C2D-BEA7-7FB73F0FEB7F}"/>
              </a:ext>
            </a:extLst>
          </p:cNvPr>
          <p:cNvSpPr txBox="1"/>
          <p:nvPr/>
        </p:nvSpPr>
        <p:spPr>
          <a:xfrm>
            <a:off x="385018" y="123213"/>
            <a:ext cx="3010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setDataPointVisible</a:t>
            </a:r>
            <a:r>
              <a:rPr lang="zh-CN" altLang="en-US" dirty="0"/>
              <a:t>文本解析</a:t>
            </a:r>
            <a:endParaRPr lang="en-US" altLang="zh-CN" dirty="0"/>
          </a:p>
          <a:p>
            <a:r>
              <a:rPr lang="zh-CN" altLang="en-US" dirty="0"/>
              <a:t>文本范式说明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18CE5E-A762-46CB-B626-D8F6CAEE0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997890"/>
              </p:ext>
            </p:extLst>
          </p:nvPr>
        </p:nvGraphicFramePr>
        <p:xfrm>
          <a:off x="673860" y="986113"/>
          <a:ext cx="10654047" cy="4942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351127">
                  <a:extLst>
                    <a:ext uri="{9D8B030D-6E8A-4147-A177-3AD203B41FA5}">
                      <a16:colId xmlns:a16="http://schemas.microsoft.com/office/drawing/2014/main" val="1440076995"/>
                    </a:ext>
                  </a:extLst>
                </a:gridCol>
                <a:gridCol w="3319370">
                  <a:extLst>
                    <a:ext uri="{9D8B030D-6E8A-4147-A177-3AD203B41FA5}">
                      <a16:colId xmlns:a16="http://schemas.microsoft.com/office/drawing/2014/main" val="2716015113"/>
                    </a:ext>
                  </a:extLst>
                </a:gridCol>
                <a:gridCol w="2263899">
                  <a:extLst>
                    <a:ext uri="{9D8B030D-6E8A-4147-A177-3AD203B41FA5}">
                      <a16:colId xmlns:a16="http://schemas.microsoft.com/office/drawing/2014/main" val="4179131661"/>
                    </a:ext>
                  </a:extLst>
                </a:gridCol>
                <a:gridCol w="3719651">
                  <a:extLst>
                    <a:ext uri="{9D8B030D-6E8A-4147-A177-3AD203B41FA5}">
                      <a16:colId xmlns:a16="http://schemas.microsoft.com/office/drawing/2014/main" val="2356817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文本段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注意事项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正确举例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错误举例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32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访视</a:t>
                      </a:r>
                      <a:r>
                        <a:rPr lang="en-US" altLang="zh-CN" sz="1200" dirty="0"/>
                        <a:t>OID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只能有一个，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必须大写，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如果是所有访视，请输入</a:t>
                      </a:r>
                      <a:r>
                        <a:rPr lang="en-US" altLang="zh-CN" sz="1200" dirty="0"/>
                        <a:t>all visit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SCR</a:t>
                      </a:r>
                    </a:p>
                    <a:p>
                      <a:r>
                        <a:rPr lang="en-US" altLang="zh-CN" sz="1200" dirty="0"/>
                        <a:t>C1D1</a:t>
                      </a:r>
                    </a:p>
                    <a:p>
                      <a:r>
                        <a:rPr lang="en-US" altLang="zh-CN" sz="1200" dirty="0"/>
                        <a:t>All Visit</a:t>
                      </a:r>
                    </a:p>
                    <a:p>
                      <a:r>
                        <a:rPr lang="en-US" altLang="zh-CN" sz="1200" dirty="0"/>
                        <a:t>All Visits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CnD1(n=3~5)</a:t>
                      </a:r>
                    </a:p>
                    <a:p>
                      <a:r>
                        <a:rPr lang="en-US" altLang="zh-CN" sz="1200" dirty="0"/>
                        <a:t>V1, V10</a:t>
                      </a:r>
                    </a:p>
                    <a:p>
                      <a:r>
                        <a:rPr lang="en-US" altLang="zh-CN" sz="1200" dirty="0"/>
                        <a:t>V2, V4, V6</a:t>
                      </a:r>
                    </a:p>
                    <a:p>
                      <a:r>
                        <a:rPr lang="en-US" altLang="zh-CN" sz="1200" dirty="0"/>
                        <a:t>c3d15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714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表单</a:t>
                      </a:r>
                      <a:r>
                        <a:rPr lang="en-US" altLang="zh-CN" sz="1200" dirty="0"/>
                        <a:t>OID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为</a:t>
                      </a:r>
                      <a:r>
                        <a:rPr lang="en-US" altLang="zh-CN" sz="1200" dirty="0"/>
                        <a:t>SDS</a:t>
                      </a:r>
                      <a:r>
                        <a:rPr lang="zh-CN" altLang="en-US" sz="1200" dirty="0"/>
                        <a:t>文件中的</a:t>
                      </a:r>
                      <a:r>
                        <a:rPr lang="en-US" altLang="zh-CN" sz="1200" dirty="0" err="1"/>
                        <a:t>folderOID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MH</a:t>
                      </a:r>
                    </a:p>
                    <a:p>
                      <a:r>
                        <a:rPr lang="en-US" altLang="zh-CN" sz="1200" dirty="0"/>
                        <a:t>VS2</a:t>
                      </a:r>
                    </a:p>
                    <a:p>
                      <a:r>
                        <a:rPr lang="en-US" altLang="zh-CN" sz="1200" dirty="0"/>
                        <a:t>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Mh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vs2</a:t>
                      </a:r>
                    </a:p>
                    <a:p>
                      <a:r>
                        <a:rPr lang="en-US" altLang="zh-CN" sz="1200" dirty="0"/>
                        <a:t>MH/PE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Unscheduled visits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38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被显示字段</a:t>
                      </a:r>
                      <a:r>
                        <a:rPr lang="en-US" altLang="zh-CN" sz="1200" dirty="0"/>
                        <a:t>OID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为</a:t>
                      </a:r>
                      <a:r>
                        <a:rPr lang="en-US" altLang="zh-CN" sz="1200" dirty="0"/>
                        <a:t>SDS</a:t>
                      </a:r>
                      <a:r>
                        <a:rPr lang="zh-CN" altLang="en-US" sz="1200" dirty="0"/>
                        <a:t>文件中的</a:t>
                      </a:r>
                      <a:r>
                        <a:rPr lang="en-US" altLang="zh-CN" sz="1200" dirty="0"/>
                        <a:t>OID</a:t>
                      </a:r>
                      <a:r>
                        <a:rPr lang="zh-CN" altLang="en-US" sz="1200" dirty="0"/>
                        <a:t>，多个</a:t>
                      </a:r>
                      <a:r>
                        <a:rPr lang="en-US" altLang="zh-CN" sz="1200" dirty="0"/>
                        <a:t>OID</a:t>
                      </a:r>
                      <a:r>
                        <a:rPr lang="zh-CN" altLang="en-US" sz="1200" dirty="0"/>
                        <a:t>间用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分隔，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必须大写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SVREASND</a:t>
                      </a:r>
                    </a:p>
                    <a:p>
                      <a:r>
                        <a:rPr lang="en-US" altLang="zh-CN" sz="1200" dirty="0"/>
                        <a:t>ALTERM/ALGEN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MLOC1~MLOC25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/>
                        <a:t>alterm</a:t>
                      </a:r>
                      <a:r>
                        <a:rPr lang="en-US" altLang="zh-CN" sz="1200" dirty="0"/>
                        <a:t>/</a:t>
                      </a:r>
                      <a:r>
                        <a:rPr lang="en-US" altLang="zh-CN" sz="1200" dirty="0" err="1"/>
                        <a:t>algen</a:t>
                      </a:r>
                      <a:endParaRPr lang="zh-CN" altLang="en-US" sz="1200" dirty="0"/>
                    </a:p>
                    <a:p>
                      <a:r>
                        <a:rPr lang="en-US" altLang="zh-CN" sz="1200" dirty="0"/>
                        <a:t>(Row 5)-VSTPT/VSDAT</a:t>
                      </a:r>
                    </a:p>
                    <a:p>
                      <a:r>
                        <a:rPr lang="en-US" altLang="zh-CN" sz="1200" dirty="0"/>
                        <a:t>SV. SVREASND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3365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zh-CN" altLang="en-US" sz="1200" dirty="0"/>
                        <a:t>逻辑文本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比较符支持 </a:t>
                      </a:r>
                      <a:r>
                        <a:rPr lang="en-US" altLang="zh-CN" sz="1200" dirty="0"/>
                        <a:t>=  &gt;   &gt;=   &lt;   &lt;=   &lt;&gt;  </a:t>
                      </a:r>
                      <a:r>
                        <a:rPr lang="zh-CN" altLang="en-US" sz="1200" dirty="0"/>
                        <a:t>≠   </a:t>
                      </a:r>
                      <a:r>
                        <a:rPr lang="en-US" altLang="zh-CN" sz="1200" dirty="0"/>
                        <a:t>!=</a:t>
                      </a:r>
                    </a:p>
                    <a:p>
                      <a:r>
                        <a:rPr lang="zh-CN" altLang="en-US" sz="1200" dirty="0"/>
                        <a:t>支持</a:t>
                      </a:r>
                      <a:r>
                        <a:rPr lang="en-US" altLang="zh-CN" sz="1200" dirty="0"/>
                        <a:t>NOW is present</a:t>
                      </a:r>
                    </a:p>
                    <a:p>
                      <a:r>
                        <a:rPr lang="zh-CN" altLang="en-US" sz="1200" dirty="0"/>
                        <a:t>不支持 </a:t>
                      </a:r>
                      <a:r>
                        <a:rPr lang="en-US" altLang="zh-CN" sz="1200" dirty="0"/>
                        <a:t>in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 out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 is null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is empty</a:t>
                      </a:r>
                      <a:r>
                        <a:rPr lang="zh-CN" altLang="en-US" sz="1200" dirty="0"/>
                        <a:t>等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VSPERF=2</a:t>
                      </a:r>
                    </a:p>
                    <a:p>
                      <a:r>
                        <a:rPr lang="en-US" altLang="zh-CN" sz="1200" dirty="0"/>
                        <a:t>EGCLSIG&lt;&gt;4</a:t>
                      </a:r>
                    </a:p>
                    <a:p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SBPCLSIG &gt;=3</a:t>
                      </a:r>
                    </a:p>
                    <a:p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NOW is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VSPERF = </a:t>
                      </a:r>
                      <a:r>
                        <a:rPr lang="zh-CN" altLang="en-US" sz="1200" dirty="0"/>
                        <a:t>空</a:t>
                      </a:r>
                      <a:endParaRPr lang="en-US" altLang="zh-CN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EGCLSIG in (1, 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SBPCLSIG is not empty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945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连接符支持 </a:t>
                      </a:r>
                      <a:r>
                        <a:rPr lang="en-US" altLang="zh-CN" sz="1200" dirty="0"/>
                        <a:t>and  or  AND  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支持简单括号的优先级运算</a:t>
                      </a:r>
                      <a:endParaRPr lang="en-US" altLang="zh-CN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不支持其他表单的字段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CMYN=1 and CMROUTE=99</a:t>
                      </a:r>
                    </a:p>
                    <a:p>
                      <a:r>
                        <a:rPr lang="en-US" altLang="zh-CN" sz="1200" dirty="0"/>
                        <a:t>CLINDIG=2 or CLINDIG=3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ENROLL.PART = 1 and VSPERF = 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566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逻辑条件结束时，必须要使用逗号（支持中英文）进行分割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SBPCLSIG &gt;=3, set  ......  visible.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SBPCLSIG &gt;=3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/>
                        <a:t>Set  ......  visible.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SBPCLSIG &gt;=3  set  ......  visible.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SBPCLSIG &gt;=3.  set  ......  visible.</a:t>
                      </a:r>
                      <a:endParaRPr lang="zh-CN" altLang="en-US" sz="1200" dirty="0"/>
                    </a:p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616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087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44E1699-1144-46C8-B7D0-1389C9ACE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45" y="1718564"/>
            <a:ext cx="8379923" cy="491236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6649DC3-97A6-47F2-9B46-80EE49091CC5}"/>
              </a:ext>
            </a:extLst>
          </p:cNvPr>
          <p:cNvSpPr txBox="1"/>
          <p:nvPr/>
        </p:nvSpPr>
        <p:spPr>
          <a:xfrm>
            <a:off x="263886" y="988043"/>
            <a:ext cx="6635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如果校验发现错误，尤其是笔误导致的</a:t>
            </a:r>
            <a:r>
              <a:rPr lang="en-US" altLang="zh-CN" sz="1200" dirty="0"/>
              <a:t>OID</a:t>
            </a:r>
            <a:r>
              <a:rPr lang="zh-CN" altLang="en-US" sz="1200" dirty="0"/>
              <a:t>错误，</a:t>
            </a:r>
            <a:r>
              <a:rPr lang="en-US" altLang="zh-CN" sz="1200" dirty="0"/>
              <a:t>UI</a:t>
            </a:r>
            <a:r>
              <a:rPr lang="zh-CN" altLang="en-US" sz="1200" dirty="0"/>
              <a:t>界面会标红提示，并提供对应的校验信息。</a:t>
            </a:r>
          </a:p>
          <a:p>
            <a:r>
              <a:rPr lang="zh-CN" altLang="en-US" sz="1200" dirty="0"/>
              <a:t>如果校验正确并进行逻辑补全，</a:t>
            </a:r>
            <a:r>
              <a:rPr lang="en-US" altLang="zh-CN" sz="1200" dirty="0"/>
              <a:t>UI</a:t>
            </a:r>
            <a:r>
              <a:rPr lang="zh-CN" altLang="en-US" sz="1200" dirty="0"/>
              <a:t>界面会标黄提示，并告知</a:t>
            </a:r>
            <a:r>
              <a:rPr lang="en-US" altLang="zh-CN" sz="1200" dirty="0"/>
              <a:t>【</a:t>
            </a:r>
            <a:r>
              <a:rPr lang="zh-CN" altLang="en-US" sz="1200" dirty="0"/>
              <a:t>已补充上游条件，请人工确认</a:t>
            </a:r>
            <a:r>
              <a:rPr lang="en-US" altLang="zh-CN" sz="1200" dirty="0"/>
              <a:t>】</a:t>
            </a:r>
            <a:r>
              <a:rPr lang="zh-CN" altLang="en-US" sz="1200" dirty="0"/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DE18A1-86D6-479C-9DFB-37F2A4A5DE5A}"/>
              </a:ext>
            </a:extLst>
          </p:cNvPr>
          <p:cNvSpPr/>
          <p:nvPr/>
        </p:nvSpPr>
        <p:spPr>
          <a:xfrm>
            <a:off x="8773742" y="1726120"/>
            <a:ext cx="3111413" cy="244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ysClr val="windowText" lastClr="000000"/>
                </a:solidFill>
              </a:rPr>
              <a:t>大部分表单存在</a:t>
            </a:r>
            <a:r>
              <a:rPr lang="en-US" altLang="zh-CN" sz="1100" b="1" dirty="0">
                <a:solidFill>
                  <a:sysClr val="windowText" lastClr="000000"/>
                </a:solidFill>
              </a:rPr>
              <a:t>A</a:t>
            </a:r>
            <a:r>
              <a:rPr lang="zh-CN" altLang="en-US" sz="1100" b="1" dirty="0">
                <a:solidFill>
                  <a:sysClr val="windowText" lastClr="000000"/>
                </a:solidFill>
              </a:rPr>
              <a:t>激活</a:t>
            </a:r>
            <a:r>
              <a:rPr lang="en-US" altLang="zh-CN" sz="1100" b="1" dirty="0">
                <a:solidFill>
                  <a:sysClr val="windowText" lastClr="000000"/>
                </a:solidFill>
              </a:rPr>
              <a:t>B</a:t>
            </a:r>
            <a:r>
              <a:rPr lang="zh-CN" altLang="en-US" sz="1100" b="1" dirty="0">
                <a:solidFill>
                  <a:sysClr val="windowText" lastClr="000000"/>
                </a:solidFill>
              </a:rPr>
              <a:t>，</a:t>
            </a:r>
            <a:r>
              <a:rPr lang="en-US" altLang="zh-CN" sz="1100" b="1" dirty="0">
                <a:solidFill>
                  <a:sysClr val="windowText" lastClr="000000"/>
                </a:solidFill>
              </a:rPr>
              <a:t>B</a:t>
            </a:r>
            <a:r>
              <a:rPr lang="zh-CN" altLang="en-US" sz="1100" b="1" dirty="0">
                <a:solidFill>
                  <a:sysClr val="windowText" lastClr="000000"/>
                </a:solidFill>
              </a:rPr>
              <a:t>激活</a:t>
            </a:r>
            <a:r>
              <a:rPr lang="en-US" altLang="zh-CN" sz="1100" b="1" dirty="0">
                <a:solidFill>
                  <a:sysClr val="windowText" lastClr="000000"/>
                </a:solidFill>
              </a:rPr>
              <a:t>C</a:t>
            </a:r>
            <a:r>
              <a:rPr lang="zh-CN" altLang="en-US" sz="1100" b="1" dirty="0">
                <a:solidFill>
                  <a:sysClr val="windowText" lastClr="000000"/>
                </a:solidFill>
              </a:rPr>
              <a:t>，</a:t>
            </a:r>
            <a:r>
              <a:rPr lang="en-US" altLang="zh-CN" sz="1100" b="1" dirty="0">
                <a:solidFill>
                  <a:sysClr val="windowText" lastClr="000000"/>
                </a:solidFill>
              </a:rPr>
              <a:t>C</a:t>
            </a:r>
            <a:r>
              <a:rPr lang="zh-CN" altLang="en-US" sz="1100" b="1" dirty="0">
                <a:solidFill>
                  <a:sysClr val="windowText" lastClr="000000"/>
                </a:solidFill>
              </a:rPr>
              <a:t>激活</a:t>
            </a:r>
            <a:r>
              <a:rPr lang="en-US" altLang="zh-CN" sz="1100" b="1" dirty="0">
                <a:solidFill>
                  <a:sysClr val="windowText" lastClr="000000"/>
                </a:solidFill>
              </a:rPr>
              <a:t>D</a:t>
            </a:r>
            <a:r>
              <a:rPr lang="zh-CN" altLang="en-US" sz="1100" b="1" dirty="0">
                <a:solidFill>
                  <a:sysClr val="windowText" lastClr="000000"/>
                </a:solidFill>
              </a:rPr>
              <a:t>这一类的场景</a:t>
            </a:r>
            <a:endParaRPr lang="en-US" altLang="zh-CN" sz="1100" b="1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ysClr val="windowText" lastClr="000000"/>
                </a:solidFill>
              </a:rPr>
              <a:t>程序会根据上下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logictext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，尝试补全。</a:t>
            </a:r>
          </a:p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ysClr val="windowText" lastClr="000000"/>
                </a:solidFill>
              </a:rPr>
              <a:t>举例：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FF0000"/>
                </a:solidFill>
              </a:rPr>
              <a:t>SEX = 2</a:t>
            </a:r>
            <a:r>
              <a:rPr lang="zh-CN" altLang="en-US" sz="1100" dirty="0">
                <a:solidFill>
                  <a:srgbClr val="FF0000"/>
                </a:solidFill>
              </a:rPr>
              <a:t>， 激活</a:t>
            </a:r>
            <a:r>
              <a:rPr lang="en-US" altLang="zh-CN" sz="1100" dirty="0">
                <a:solidFill>
                  <a:srgbClr val="FF0000"/>
                </a:solidFill>
              </a:rPr>
              <a:t>CHILDPOT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FF0000"/>
                </a:solidFill>
              </a:rPr>
              <a:t>CHILDPOT = 2</a:t>
            </a:r>
            <a:r>
              <a:rPr lang="zh-CN" altLang="en-US" sz="1100" dirty="0">
                <a:solidFill>
                  <a:srgbClr val="FF0000"/>
                </a:solidFill>
              </a:rPr>
              <a:t>，激活</a:t>
            </a:r>
            <a:r>
              <a:rPr lang="en-US" altLang="zh-CN" sz="1100" dirty="0">
                <a:solidFill>
                  <a:srgbClr val="FF0000"/>
                </a:solidFill>
              </a:rPr>
              <a:t>CHILDREA</a:t>
            </a:r>
          </a:p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ysClr val="windowText" lastClr="000000"/>
                </a:solidFill>
              </a:rPr>
              <a:t>那么，程序最终补全为：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FF0000"/>
                </a:solidFill>
              </a:rPr>
              <a:t>SEX = 2</a:t>
            </a:r>
            <a:r>
              <a:rPr lang="zh-CN" altLang="en-US" sz="1100" dirty="0">
                <a:solidFill>
                  <a:srgbClr val="FF0000"/>
                </a:solidFill>
              </a:rPr>
              <a:t>， 激活</a:t>
            </a:r>
            <a:r>
              <a:rPr lang="en-US" altLang="zh-CN" sz="1100" dirty="0">
                <a:solidFill>
                  <a:srgbClr val="FF0000"/>
                </a:solidFill>
              </a:rPr>
              <a:t>CHILDPOT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FF0000"/>
                </a:solidFill>
              </a:rPr>
              <a:t>SEX = 2 and CHILDPOT = 2</a:t>
            </a:r>
            <a:r>
              <a:rPr lang="zh-CN" altLang="en-US" sz="1100" dirty="0">
                <a:solidFill>
                  <a:srgbClr val="FF0000"/>
                </a:solidFill>
              </a:rPr>
              <a:t>，激活</a:t>
            </a:r>
            <a:r>
              <a:rPr lang="en-US" altLang="zh-CN" sz="1100" dirty="0">
                <a:solidFill>
                  <a:srgbClr val="FF0000"/>
                </a:solidFill>
              </a:rPr>
              <a:t>CHILDREA</a:t>
            </a:r>
          </a:p>
          <a:p>
            <a:pPr algn="ctr">
              <a:lnSpc>
                <a:spcPct val="150000"/>
              </a:lnSpc>
            </a:pPr>
            <a:endParaRPr lang="zh-CN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04EF47-C7BD-4E86-9A1D-BA2ECB4BAAD1}"/>
              </a:ext>
            </a:extLst>
          </p:cNvPr>
          <p:cNvSpPr/>
          <p:nvPr/>
        </p:nvSpPr>
        <p:spPr>
          <a:xfrm>
            <a:off x="8773742" y="4498356"/>
            <a:ext cx="3111413" cy="13562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b="1" dirty="0">
                <a:solidFill>
                  <a:sysClr val="windowText" lastClr="000000"/>
                </a:solidFill>
              </a:rPr>
              <a:t>局限性：</a:t>
            </a:r>
            <a:endParaRPr lang="en-US" altLang="zh-CN" sz="1100" b="1" dirty="0">
              <a:solidFill>
                <a:sysClr val="windowText" lastClr="000000"/>
              </a:solidFill>
            </a:endParaRPr>
          </a:p>
          <a:p>
            <a:r>
              <a:rPr lang="zh-CN" altLang="en-US" sz="1100" dirty="0">
                <a:solidFill>
                  <a:sysClr val="windowText" lastClr="000000"/>
                </a:solidFill>
              </a:rPr>
              <a:t>对于需要设定</a:t>
            </a:r>
            <a:endParaRPr lang="en-US" altLang="zh-CN" sz="1100" dirty="0">
              <a:solidFill>
                <a:sysClr val="windowText" lastClr="000000"/>
              </a:solidFill>
            </a:endParaRPr>
          </a:p>
          <a:p>
            <a:r>
              <a:rPr lang="zh-CN" altLang="en-US" sz="1100" dirty="0">
                <a:solidFill>
                  <a:sysClr val="windowText" lastClr="000000"/>
                </a:solidFill>
              </a:rPr>
              <a:t>具体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recordposition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（如 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rec.pos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. = 5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）、</a:t>
            </a:r>
            <a:endParaRPr lang="en-US" altLang="zh-CN" sz="1100" dirty="0">
              <a:solidFill>
                <a:sysClr val="windowText" lastClr="000000"/>
              </a:solidFill>
            </a:endParaRPr>
          </a:p>
          <a:p>
            <a:r>
              <a:rPr lang="en-US" altLang="zh-CN" sz="1100" dirty="0" err="1">
                <a:solidFill>
                  <a:sysClr val="windowText" lastClr="000000"/>
                </a:solidFill>
              </a:rPr>
              <a:t>formRepeatNumber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（如 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form.Rep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 = 0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）、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FolderRepeatNumber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（如 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folder.Rep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 = 0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）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,</a:t>
            </a:r>
          </a:p>
          <a:p>
            <a:r>
              <a:rPr lang="zh-CN" altLang="en-US" sz="1100" dirty="0">
                <a:solidFill>
                  <a:sysClr val="windowText" lastClr="000000"/>
                </a:solidFill>
              </a:rPr>
              <a:t>以及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Max 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、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Min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、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Previous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、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Last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等特殊的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EC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，需要自己粘贴、保存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quickedit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后，手动修改。</a:t>
            </a:r>
          </a:p>
        </p:txBody>
      </p:sp>
    </p:spTree>
    <p:extLst>
      <p:ext uri="{BB962C8B-B14F-4D97-AF65-F5344CB8AC3E}">
        <p14:creationId xmlns:p14="http://schemas.microsoft.com/office/powerpoint/2010/main" val="1495660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72A35A8-512A-4DCE-8806-469CD66C2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2111"/>
            <a:ext cx="12192000" cy="310331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911BEC7-0B95-47BB-9473-0B494ED2E7B3}"/>
              </a:ext>
            </a:extLst>
          </p:cNvPr>
          <p:cNvSpPr/>
          <p:nvPr/>
        </p:nvSpPr>
        <p:spPr>
          <a:xfrm>
            <a:off x="0" y="632381"/>
            <a:ext cx="5731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导出校验文件，</a:t>
            </a:r>
          </a:p>
          <a:p>
            <a:r>
              <a:rPr lang="zh-CN" altLang="en-US" sz="1200" dirty="0"/>
              <a:t>对于检验正确的</a:t>
            </a:r>
            <a:r>
              <a:rPr lang="en-US" altLang="zh-CN" sz="1200" dirty="0" err="1"/>
              <a:t>logictext</a:t>
            </a:r>
            <a:r>
              <a:rPr lang="zh-CN" altLang="en-US" sz="1200" dirty="0"/>
              <a:t>，我们需要将</a:t>
            </a:r>
            <a:r>
              <a:rPr lang="en-US" altLang="zh-CN" sz="1200" dirty="0" err="1"/>
              <a:t>NormalizedLogicText</a:t>
            </a:r>
            <a:r>
              <a:rPr lang="zh-CN" altLang="en-US" sz="1200" dirty="0"/>
              <a:t>列覆盖</a:t>
            </a:r>
            <a:r>
              <a:rPr lang="en-US" altLang="zh-CN" sz="1200" dirty="0" err="1"/>
              <a:t>logictext</a:t>
            </a:r>
            <a:r>
              <a:rPr lang="zh-CN" altLang="en-US" sz="1200" dirty="0"/>
              <a:t>；</a:t>
            </a:r>
          </a:p>
          <a:p>
            <a:r>
              <a:rPr lang="zh-CN" altLang="en-US" sz="1200" dirty="0"/>
              <a:t>对于校验错误的列，我们需要根据校验信息和</a:t>
            </a:r>
            <a:r>
              <a:rPr lang="en-US" altLang="zh-CN" sz="1200" dirty="0" err="1"/>
              <a:t>NormalizedLogicText</a:t>
            </a:r>
            <a:r>
              <a:rPr lang="zh-CN" altLang="en-US" sz="1200" dirty="0"/>
              <a:t>进行修改、复写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FD46E8-2605-43E2-9B53-FDE7B9797051}"/>
              </a:ext>
            </a:extLst>
          </p:cNvPr>
          <p:cNvSpPr/>
          <p:nvPr/>
        </p:nvSpPr>
        <p:spPr>
          <a:xfrm>
            <a:off x="6441200" y="1996310"/>
            <a:ext cx="2463460" cy="3054369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左弧形 4">
            <a:extLst>
              <a:ext uri="{FF2B5EF4-FFF2-40B4-BE49-F238E27FC236}">
                <a16:creationId xmlns:a16="http://schemas.microsoft.com/office/drawing/2014/main" id="{4C5D7928-C997-4204-8C78-9B0E6D3C8739}"/>
              </a:ext>
            </a:extLst>
          </p:cNvPr>
          <p:cNvSpPr/>
          <p:nvPr/>
        </p:nvSpPr>
        <p:spPr>
          <a:xfrm rot="5400000">
            <a:off x="5808588" y="678407"/>
            <a:ext cx="706727" cy="1866604"/>
          </a:xfrm>
          <a:prstGeom prst="curvedRightArrow">
            <a:avLst>
              <a:gd name="adj1" fmla="val 12138"/>
              <a:gd name="adj2" fmla="val 50000"/>
              <a:gd name="adj3" fmla="val 25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A88DD5-F22C-4F1D-9AF8-D09D3FBFD1D0}"/>
              </a:ext>
            </a:extLst>
          </p:cNvPr>
          <p:cNvSpPr txBox="1"/>
          <p:nvPr/>
        </p:nvSpPr>
        <p:spPr>
          <a:xfrm>
            <a:off x="6849546" y="1258345"/>
            <a:ext cx="4063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zh-CN" altLang="en-US" sz="1100" dirty="0">
                <a:solidFill>
                  <a:srgbClr val="FF0000"/>
                </a:solidFill>
              </a:rPr>
              <a:t>需要把完整的</a:t>
            </a:r>
            <a:r>
              <a:rPr lang="en-US" altLang="zh-CN" sz="1100" dirty="0">
                <a:solidFill>
                  <a:srgbClr val="FF0000"/>
                </a:solidFill>
              </a:rPr>
              <a:t>suggested</a:t>
            </a:r>
            <a:r>
              <a:rPr lang="zh-CN" altLang="en-US" sz="1100" dirty="0">
                <a:solidFill>
                  <a:srgbClr val="FF0000"/>
                </a:solidFill>
              </a:rPr>
              <a:t>粘贴到原始</a:t>
            </a:r>
            <a:r>
              <a:rPr lang="en-US" altLang="zh-CN" sz="1100" dirty="0">
                <a:solidFill>
                  <a:srgbClr val="FF0000"/>
                </a:solidFill>
              </a:rPr>
              <a:t>logic</a:t>
            </a:r>
            <a:r>
              <a:rPr lang="zh-CN" altLang="en-US" sz="1100" dirty="0">
                <a:solidFill>
                  <a:srgbClr val="FF0000"/>
                </a:solidFill>
              </a:rPr>
              <a:t>中，确保解析的准确性</a:t>
            </a:r>
          </a:p>
        </p:txBody>
      </p:sp>
    </p:spTree>
    <p:extLst>
      <p:ext uri="{BB962C8B-B14F-4D97-AF65-F5344CB8AC3E}">
        <p14:creationId xmlns:p14="http://schemas.microsoft.com/office/powerpoint/2010/main" val="156458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66E4C7-5F2C-4785-A1EE-29378FDB08D2}"/>
              </a:ext>
            </a:extLst>
          </p:cNvPr>
          <p:cNvSpPr/>
          <p:nvPr/>
        </p:nvSpPr>
        <p:spPr>
          <a:xfrm>
            <a:off x="294572" y="372260"/>
            <a:ext cx="3001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重新上传，直到校验没有错误</a:t>
            </a:r>
            <a:endParaRPr lang="en-US" altLang="zh-CN" sz="1200" dirty="0"/>
          </a:p>
          <a:p>
            <a:r>
              <a:rPr lang="zh-CN" altLang="en-US" sz="1200" dirty="0"/>
              <a:t>点击生成</a:t>
            </a:r>
            <a:r>
              <a:rPr lang="en-US" altLang="zh-CN" sz="1200" dirty="0"/>
              <a:t>ECS</a:t>
            </a:r>
            <a:r>
              <a:rPr lang="zh-CN" altLang="en-US" sz="1200" dirty="0"/>
              <a:t>。</a:t>
            </a:r>
            <a:r>
              <a:rPr lang="zh-CN" altLang="en-US" sz="1000" dirty="0">
                <a:solidFill>
                  <a:srgbClr val="FF0000"/>
                </a:solidFill>
              </a:rPr>
              <a:t>（即使有错，也可以强行运行）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E760F0-EC07-4FA3-870E-2F6AED82E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72" y="934100"/>
            <a:ext cx="7878294" cy="578888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C307C2E-8B72-4913-9DFD-CF94AB6BC744}"/>
              </a:ext>
            </a:extLst>
          </p:cNvPr>
          <p:cNvSpPr txBox="1"/>
          <p:nvPr/>
        </p:nvSpPr>
        <p:spPr>
          <a:xfrm>
            <a:off x="2167590" y="4537557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此区域展示最终解析后的文本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54FBAA-58D3-4E0E-8427-306897789F5B}"/>
              </a:ext>
            </a:extLst>
          </p:cNvPr>
          <p:cNvSpPr/>
          <p:nvPr/>
        </p:nvSpPr>
        <p:spPr>
          <a:xfrm>
            <a:off x="3378881" y="1853348"/>
            <a:ext cx="1518375" cy="2350438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D85A081-06C0-4498-BA94-F5ABE0297DBE}"/>
              </a:ext>
            </a:extLst>
          </p:cNvPr>
          <p:cNvCxnSpPr/>
          <p:nvPr/>
        </p:nvCxnSpPr>
        <p:spPr>
          <a:xfrm flipH="1">
            <a:off x="4621095" y="1399216"/>
            <a:ext cx="601418" cy="3620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155CDFA-133B-4DC5-8FE1-DD4D35FFD830}"/>
              </a:ext>
            </a:extLst>
          </p:cNvPr>
          <p:cNvSpPr txBox="1"/>
          <p:nvPr/>
        </p:nvSpPr>
        <p:spPr>
          <a:xfrm>
            <a:off x="5173654" y="1153273"/>
            <a:ext cx="3207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最终校验的</a:t>
            </a:r>
            <a:r>
              <a:rPr lang="en-US" altLang="zh-CN" sz="1400" dirty="0" err="1">
                <a:solidFill>
                  <a:srgbClr val="FF0000"/>
                </a:solidFill>
              </a:rPr>
              <a:t>logicText</a:t>
            </a:r>
            <a:r>
              <a:rPr lang="zh-CN" altLang="en-US" sz="1400" dirty="0">
                <a:solidFill>
                  <a:srgbClr val="FF0000"/>
                </a:solidFill>
              </a:rPr>
              <a:t>，是标准化的文本</a:t>
            </a:r>
          </a:p>
        </p:txBody>
      </p:sp>
    </p:spTree>
    <p:extLst>
      <p:ext uri="{BB962C8B-B14F-4D97-AF65-F5344CB8AC3E}">
        <p14:creationId xmlns:p14="http://schemas.microsoft.com/office/powerpoint/2010/main" val="2395524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18CE5E-A762-46CB-B626-D8F6CAEE0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35039"/>
              </p:ext>
            </p:extLst>
          </p:nvPr>
        </p:nvGraphicFramePr>
        <p:xfrm>
          <a:off x="499181" y="688927"/>
          <a:ext cx="10654047" cy="61366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351127">
                  <a:extLst>
                    <a:ext uri="{9D8B030D-6E8A-4147-A177-3AD203B41FA5}">
                      <a16:colId xmlns:a16="http://schemas.microsoft.com/office/drawing/2014/main" val="1440076995"/>
                    </a:ext>
                  </a:extLst>
                </a:gridCol>
                <a:gridCol w="3287242">
                  <a:extLst>
                    <a:ext uri="{9D8B030D-6E8A-4147-A177-3AD203B41FA5}">
                      <a16:colId xmlns:a16="http://schemas.microsoft.com/office/drawing/2014/main" val="2716015113"/>
                    </a:ext>
                  </a:extLst>
                </a:gridCol>
                <a:gridCol w="2296027">
                  <a:extLst>
                    <a:ext uri="{9D8B030D-6E8A-4147-A177-3AD203B41FA5}">
                      <a16:colId xmlns:a16="http://schemas.microsoft.com/office/drawing/2014/main" val="4179131661"/>
                    </a:ext>
                  </a:extLst>
                </a:gridCol>
                <a:gridCol w="3719651">
                  <a:extLst>
                    <a:ext uri="{9D8B030D-6E8A-4147-A177-3AD203B41FA5}">
                      <a16:colId xmlns:a16="http://schemas.microsoft.com/office/drawing/2014/main" val="2356817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文本段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注意事项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正确举例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错误举例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32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访视</a:t>
                      </a:r>
                      <a:r>
                        <a:rPr lang="en-US" altLang="zh-CN" sz="1200" dirty="0"/>
                        <a:t>OID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只能有一个，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必须大写，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如果是所有访视，请输入</a:t>
                      </a:r>
                      <a:r>
                        <a:rPr lang="en-US" altLang="zh-CN" sz="1200" dirty="0"/>
                        <a:t>all visit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SCR</a:t>
                      </a:r>
                    </a:p>
                    <a:p>
                      <a:r>
                        <a:rPr lang="en-US" altLang="zh-CN" sz="1200" dirty="0"/>
                        <a:t>C1D1</a:t>
                      </a:r>
                    </a:p>
                    <a:p>
                      <a:r>
                        <a:rPr lang="en-US" altLang="zh-CN" sz="1200" dirty="0"/>
                        <a:t>All Visit</a:t>
                      </a:r>
                    </a:p>
                    <a:p>
                      <a:r>
                        <a:rPr lang="en-US" altLang="zh-CN" sz="1200" dirty="0"/>
                        <a:t>All Visits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CnD1(n=3~5)</a:t>
                      </a:r>
                    </a:p>
                    <a:p>
                      <a:r>
                        <a:rPr lang="en-US" altLang="zh-CN" sz="1200" dirty="0"/>
                        <a:t>V1, V10</a:t>
                      </a:r>
                    </a:p>
                    <a:p>
                      <a:r>
                        <a:rPr lang="en-US" altLang="zh-CN" sz="1200" dirty="0"/>
                        <a:t>V2, V4, V6</a:t>
                      </a:r>
                    </a:p>
                    <a:p>
                      <a:r>
                        <a:rPr lang="en-US" altLang="zh-CN" sz="1200" dirty="0"/>
                        <a:t>c3d15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714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表单</a:t>
                      </a:r>
                      <a:r>
                        <a:rPr lang="en-US" altLang="zh-CN" sz="1200" dirty="0"/>
                        <a:t>OID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为</a:t>
                      </a:r>
                      <a:r>
                        <a:rPr lang="en-US" altLang="zh-CN" sz="1200" dirty="0"/>
                        <a:t>SDS</a:t>
                      </a:r>
                      <a:r>
                        <a:rPr lang="zh-CN" altLang="en-US" sz="1200" dirty="0"/>
                        <a:t>文件中的</a:t>
                      </a:r>
                      <a:r>
                        <a:rPr lang="en-US" altLang="zh-CN" sz="1200" dirty="0" err="1"/>
                        <a:t>folderOID</a:t>
                      </a:r>
                      <a:r>
                        <a:rPr lang="zh-CN" altLang="en-US" sz="1200" dirty="0"/>
                        <a:t>，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只能有一个，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MH</a:t>
                      </a:r>
                    </a:p>
                    <a:p>
                      <a:r>
                        <a:rPr lang="en-US" altLang="zh-CN" sz="1200" dirty="0"/>
                        <a:t>VS2</a:t>
                      </a:r>
                    </a:p>
                    <a:p>
                      <a:r>
                        <a:rPr lang="en-US" altLang="zh-CN" sz="1200" dirty="0"/>
                        <a:t>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Mh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vs2</a:t>
                      </a:r>
                    </a:p>
                    <a:p>
                      <a:r>
                        <a:rPr lang="en-US" altLang="zh-CN" sz="1200" dirty="0"/>
                        <a:t>MH/PE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Unscheduled visits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38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质疑字段</a:t>
                      </a:r>
                      <a:r>
                        <a:rPr lang="en-US" altLang="zh-CN" sz="1200" dirty="0"/>
                        <a:t>OID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为</a:t>
                      </a:r>
                      <a:r>
                        <a:rPr lang="en-US" altLang="zh-CN" sz="1200" dirty="0"/>
                        <a:t>SDS</a:t>
                      </a:r>
                      <a:r>
                        <a:rPr lang="zh-CN" altLang="en-US" sz="1200" dirty="0"/>
                        <a:t>文件中的</a:t>
                      </a:r>
                      <a:r>
                        <a:rPr lang="en-US" altLang="zh-CN" sz="1200" dirty="0"/>
                        <a:t>OID</a:t>
                      </a:r>
                      <a:r>
                        <a:rPr lang="zh-CN" altLang="en-US" sz="1200" dirty="0"/>
                        <a:t>，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只能有一个，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必须大写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SVREASND</a:t>
                      </a:r>
                    </a:p>
                    <a:p>
                      <a:r>
                        <a:rPr lang="en-US" altLang="zh-CN" sz="1200" dirty="0"/>
                        <a:t>ALTERM/ALGEN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MLOC1~MLOC25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/>
                        <a:t>alterm</a:t>
                      </a:r>
                      <a:r>
                        <a:rPr lang="en-US" altLang="zh-CN" sz="1200" dirty="0"/>
                        <a:t>/</a:t>
                      </a:r>
                      <a:r>
                        <a:rPr lang="en-US" altLang="zh-CN" sz="1200" dirty="0" err="1"/>
                        <a:t>algen</a:t>
                      </a:r>
                      <a:endParaRPr lang="zh-CN" altLang="en-US" sz="1200" dirty="0"/>
                    </a:p>
                    <a:p>
                      <a:r>
                        <a:rPr lang="en-US" altLang="zh-CN" sz="1200" dirty="0"/>
                        <a:t>(Row 5)-VSTPT/VSDAT</a:t>
                      </a:r>
                    </a:p>
                    <a:p>
                      <a:r>
                        <a:rPr lang="en-US" altLang="zh-CN" sz="1200" dirty="0"/>
                        <a:t>SV. SVREASND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3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字段</a:t>
                      </a:r>
                      <a:r>
                        <a:rPr lang="en-US" altLang="zh-CN" sz="1200" dirty="0"/>
                        <a:t>OID</a:t>
                      </a:r>
                      <a:r>
                        <a:rPr lang="zh-CN" altLang="en-US" sz="1200" dirty="0"/>
                        <a:t>如果是其他表单、或其他访视请标明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VISDAT</a:t>
                      </a:r>
                    </a:p>
                    <a:p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EX.ECSTDAT</a:t>
                      </a:r>
                    </a:p>
                    <a:p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EX.EXSTDAT (in C1D1)</a:t>
                      </a:r>
                    </a:p>
                    <a:p>
                      <a:r>
                        <a:rPr lang="en-US" altLang="zh-CN" sz="1600" b="1" baseline="3000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SV1.VISDAT (same visit)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the same TLLOC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PR_ANM page active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EX.EXSTDAT (max)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minimum of SUBSTDAT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2066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zh-CN" altLang="en-US" sz="1200" dirty="0"/>
                        <a:t>逻辑文本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比较符支持 </a:t>
                      </a:r>
                      <a:r>
                        <a:rPr lang="en-US" altLang="zh-CN" sz="1200" dirty="0"/>
                        <a:t>=  &gt;   &gt;=   &lt;   &lt;=   &lt;&gt;  </a:t>
                      </a:r>
                      <a:r>
                        <a:rPr lang="zh-CN" altLang="en-US" sz="1200" dirty="0"/>
                        <a:t>≠   </a:t>
                      </a:r>
                      <a:r>
                        <a:rPr lang="en-US" altLang="zh-CN" sz="1200" dirty="0"/>
                        <a:t>!=  =null </a:t>
                      </a:r>
                      <a:r>
                        <a:rPr lang="zh-CN" altLang="en-US" sz="1200" dirty="0"/>
                        <a:t>、 </a:t>
                      </a:r>
                      <a:r>
                        <a:rPr lang="en-US" altLang="zh-CN" sz="1200" dirty="0"/>
                        <a:t>&lt;&gt;null</a:t>
                      </a:r>
                      <a:r>
                        <a:rPr lang="zh-CN" altLang="en-US" sz="1200" dirty="0"/>
                        <a:t>等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不支持</a:t>
                      </a:r>
                      <a:r>
                        <a:rPr lang="en-US" altLang="zh-CN" sz="1200" dirty="0"/>
                        <a:t>is empty,  is not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VSPERF=2</a:t>
                      </a:r>
                    </a:p>
                    <a:p>
                      <a:r>
                        <a:rPr lang="en-US" altLang="zh-CN" sz="1200" dirty="0"/>
                        <a:t>EGCLSIG&lt;&gt;4</a:t>
                      </a:r>
                    </a:p>
                    <a:p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SBPCLSIG &lt;&gt; null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3000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en-US" altLang="zh-CN" sz="1200" dirty="0"/>
                        <a:t>EGCLSIG = 2 or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baseline="3000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en-US" altLang="zh-CN" sz="1200" dirty="0"/>
                        <a:t>EGCLSIG = 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VSPERF = </a:t>
                      </a:r>
                      <a:r>
                        <a:rPr lang="zh-CN" altLang="en-US" sz="1200" dirty="0"/>
                        <a:t>空</a:t>
                      </a:r>
                      <a:endParaRPr lang="en-US" altLang="zh-CN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EGCLSIG in (1, 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AJCC103&lt;&gt;3-6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SBPCLSIG is not null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945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差值支持纯数字、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7d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7h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days</a:t>
                      </a:r>
                    </a:p>
                    <a:p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566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连接符支持 </a:t>
                      </a:r>
                      <a:r>
                        <a:rPr lang="en-US" altLang="zh-CN" sz="1200" dirty="0"/>
                        <a:t>and or</a:t>
                      </a:r>
                      <a:r>
                        <a:rPr lang="zh-CN" altLang="en-US" sz="1200" dirty="0"/>
                        <a:t>（包含大小写变体）</a:t>
                      </a:r>
                      <a:endParaRPr lang="en-US" altLang="zh-CN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支持括号的简单优先级运算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CMYN=1 and CMROUTE=99</a:t>
                      </a:r>
                    </a:p>
                    <a:p>
                      <a:r>
                        <a:rPr lang="en-US" altLang="zh-CN" sz="1200" dirty="0"/>
                        <a:t>CLINDIG=2 or CLINDIG=3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146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质疑文本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/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3297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CA3F48E-241B-4635-B64C-9C80399D101C}"/>
              </a:ext>
            </a:extLst>
          </p:cNvPr>
          <p:cNvSpPr txBox="1"/>
          <p:nvPr/>
        </p:nvSpPr>
        <p:spPr>
          <a:xfrm>
            <a:off x="9804782" y="5061321"/>
            <a:ext cx="211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30000" dirty="0">
                <a:solidFill>
                  <a:srgbClr val="FF0000"/>
                </a:solidFill>
              </a:rPr>
              <a:t>* </a:t>
            </a:r>
            <a:r>
              <a:rPr lang="zh-CN" altLang="en-US" baseline="30000" dirty="0"/>
              <a:t>该文本格式</a:t>
            </a:r>
            <a:r>
              <a:rPr lang="en-US" altLang="zh-CN" baseline="30000" dirty="0"/>
              <a:t>AI</a:t>
            </a:r>
            <a:r>
              <a:rPr lang="zh-CN" altLang="en-US" baseline="30000" dirty="0"/>
              <a:t>识别可能失败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20475D-7E62-4A76-87ED-41D452391BE1}"/>
              </a:ext>
            </a:extLst>
          </p:cNvPr>
          <p:cNvSpPr txBox="1"/>
          <p:nvPr/>
        </p:nvSpPr>
        <p:spPr>
          <a:xfrm>
            <a:off x="385018" y="123213"/>
            <a:ext cx="2271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openQuery</a:t>
            </a:r>
            <a:r>
              <a:rPr lang="zh-CN" altLang="en-US" dirty="0"/>
              <a:t>文本解析</a:t>
            </a:r>
            <a:endParaRPr lang="en-US" altLang="zh-CN" dirty="0"/>
          </a:p>
          <a:p>
            <a:r>
              <a:rPr lang="zh-CN" altLang="en-US" dirty="0"/>
              <a:t>文本范式说明</a:t>
            </a:r>
          </a:p>
        </p:txBody>
      </p:sp>
    </p:spTree>
    <p:extLst>
      <p:ext uri="{BB962C8B-B14F-4D97-AF65-F5344CB8AC3E}">
        <p14:creationId xmlns:p14="http://schemas.microsoft.com/office/powerpoint/2010/main" val="1528427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3E659DF-B7A1-4348-B10F-4509812CA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6" y="929235"/>
            <a:ext cx="6930023" cy="33261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4D98AF-BE61-4F1A-82FD-FD980DA49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6" y="3429000"/>
            <a:ext cx="6930023" cy="29836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E961123-BDF2-46B3-9B7D-1F9352F276B1}"/>
              </a:ext>
            </a:extLst>
          </p:cNvPr>
          <p:cNvSpPr/>
          <p:nvPr/>
        </p:nvSpPr>
        <p:spPr>
          <a:xfrm>
            <a:off x="4526483" y="4101272"/>
            <a:ext cx="1174709" cy="1827494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351D8B-7618-4362-ADE1-371D8ECA0537}"/>
              </a:ext>
            </a:extLst>
          </p:cNvPr>
          <p:cNvSpPr/>
          <p:nvPr/>
        </p:nvSpPr>
        <p:spPr>
          <a:xfrm>
            <a:off x="109016" y="454600"/>
            <a:ext cx="6588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如果校验发现错误，尤其是笔误导致的</a:t>
            </a:r>
            <a:r>
              <a:rPr lang="en-US" altLang="zh-CN" sz="1200" dirty="0"/>
              <a:t>OID</a:t>
            </a:r>
            <a:r>
              <a:rPr lang="zh-CN" altLang="en-US" sz="1200" dirty="0"/>
              <a:t>错误，</a:t>
            </a:r>
            <a:r>
              <a:rPr lang="en-US" altLang="zh-CN" sz="1200" dirty="0"/>
              <a:t>UI</a:t>
            </a:r>
            <a:r>
              <a:rPr lang="zh-CN" altLang="en-US" sz="1200" dirty="0"/>
              <a:t>界面会标红提示，并提供对应的校验信息。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B439E8-D9E6-4EA5-81C8-0DB22464287E}"/>
              </a:ext>
            </a:extLst>
          </p:cNvPr>
          <p:cNvSpPr/>
          <p:nvPr/>
        </p:nvSpPr>
        <p:spPr>
          <a:xfrm>
            <a:off x="7585224" y="929235"/>
            <a:ext cx="3111413" cy="13562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b="1" dirty="0">
                <a:solidFill>
                  <a:sysClr val="windowText" lastClr="000000"/>
                </a:solidFill>
              </a:rPr>
              <a:t>局限性：</a:t>
            </a:r>
            <a:endParaRPr lang="en-US" altLang="zh-CN" sz="1100" b="1" dirty="0">
              <a:solidFill>
                <a:sysClr val="windowText" lastClr="000000"/>
              </a:solidFill>
            </a:endParaRPr>
          </a:p>
          <a:p>
            <a:r>
              <a:rPr lang="zh-CN" altLang="en-US" sz="1100" dirty="0">
                <a:solidFill>
                  <a:sysClr val="windowText" lastClr="000000"/>
                </a:solidFill>
              </a:rPr>
              <a:t>对于需要设定</a:t>
            </a:r>
            <a:endParaRPr lang="en-US" altLang="zh-CN" sz="1100" dirty="0">
              <a:solidFill>
                <a:sysClr val="windowText" lastClr="000000"/>
              </a:solidFill>
            </a:endParaRPr>
          </a:p>
          <a:p>
            <a:r>
              <a:rPr lang="zh-CN" altLang="en-US" sz="1100" dirty="0">
                <a:solidFill>
                  <a:sysClr val="windowText" lastClr="000000"/>
                </a:solidFill>
              </a:rPr>
              <a:t>具体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recordposition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（如 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rec.pos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. = 5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）、</a:t>
            </a:r>
            <a:endParaRPr lang="en-US" altLang="zh-CN" sz="1100" dirty="0">
              <a:solidFill>
                <a:sysClr val="windowText" lastClr="000000"/>
              </a:solidFill>
            </a:endParaRPr>
          </a:p>
          <a:p>
            <a:r>
              <a:rPr lang="en-US" altLang="zh-CN" sz="1100" dirty="0" err="1">
                <a:solidFill>
                  <a:sysClr val="windowText" lastClr="000000"/>
                </a:solidFill>
              </a:rPr>
              <a:t>formRepeatNumber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（如 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form.Rep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 = 0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）、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FolderRepeatNumber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（如 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folder.Rep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 = 0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）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,</a:t>
            </a:r>
          </a:p>
          <a:p>
            <a:r>
              <a:rPr lang="zh-CN" altLang="en-US" sz="1100" dirty="0">
                <a:solidFill>
                  <a:sysClr val="windowText" lastClr="000000"/>
                </a:solidFill>
              </a:rPr>
              <a:t>以及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Max 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、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Min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、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Previous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、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Last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等特殊的</a:t>
            </a:r>
            <a:r>
              <a:rPr lang="en-US" altLang="zh-CN" sz="1100" dirty="0">
                <a:solidFill>
                  <a:sysClr val="windowText" lastClr="000000"/>
                </a:solidFill>
              </a:rPr>
              <a:t>EC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，需要自己粘贴、保存</a:t>
            </a:r>
            <a:r>
              <a:rPr lang="en-US" altLang="zh-CN" sz="1100" dirty="0" err="1">
                <a:solidFill>
                  <a:sysClr val="windowText" lastClr="000000"/>
                </a:solidFill>
              </a:rPr>
              <a:t>quickedit</a:t>
            </a:r>
            <a:r>
              <a:rPr lang="zh-CN" altLang="en-US" sz="1100" dirty="0">
                <a:solidFill>
                  <a:sysClr val="windowText" lastClr="000000"/>
                </a:solidFill>
              </a:rPr>
              <a:t>后，手动修改。</a:t>
            </a:r>
          </a:p>
        </p:txBody>
      </p:sp>
    </p:spTree>
    <p:extLst>
      <p:ext uri="{BB962C8B-B14F-4D97-AF65-F5344CB8AC3E}">
        <p14:creationId xmlns:p14="http://schemas.microsoft.com/office/powerpoint/2010/main" val="3283711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83D4358-24D8-4AB7-96BE-82A92E4D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6679"/>
            <a:ext cx="12192000" cy="3204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C11213C-64DE-4645-AF83-0D7FA85C1E2D}"/>
              </a:ext>
            </a:extLst>
          </p:cNvPr>
          <p:cNvSpPr/>
          <p:nvPr/>
        </p:nvSpPr>
        <p:spPr>
          <a:xfrm>
            <a:off x="0" y="632381"/>
            <a:ext cx="5731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导出校验文件，</a:t>
            </a:r>
          </a:p>
          <a:p>
            <a:r>
              <a:rPr lang="zh-CN" altLang="en-US" sz="1200" dirty="0"/>
              <a:t>对于检验正确的</a:t>
            </a:r>
            <a:r>
              <a:rPr lang="en-US" altLang="zh-CN" sz="1200" dirty="0" err="1"/>
              <a:t>logictext</a:t>
            </a:r>
            <a:r>
              <a:rPr lang="zh-CN" altLang="en-US" sz="1200" dirty="0"/>
              <a:t>，我们需要将</a:t>
            </a:r>
            <a:r>
              <a:rPr lang="en-US" altLang="zh-CN" sz="1200" dirty="0" err="1"/>
              <a:t>NormalizedLogicText</a:t>
            </a:r>
            <a:r>
              <a:rPr lang="zh-CN" altLang="en-US" sz="1200" dirty="0"/>
              <a:t>列覆盖</a:t>
            </a:r>
            <a:r>
              <a:rPr lang="en-US" altLang="zh-CN" sz="1200" dirty="0" err="1"/>
              <a:t>logictext</a:t>
            </a:r>
            <a:r>
              <a:rPr lang="zh-CN" altLang="en-US" sz="1200" dirty="0"/>
              <a:t>；</a:t>
            </a:r>
          </a:p>
          <a:p>
            <a:r>
              <a:rPr lang="zh-CN" altLang="en-US" sz="1200" dirty="0"/>
              <a:t>对于校验错误的列，我们需要根据校验信息和</a:t>
            </a:r>
            <a:r>
              <a:rPr lang="en-US" altLang="zh-CN" sz="1200" dirty="0" err="1"/>
              <a:t>NormalizedLogicText</a:t>
            </a:r>
            <a:r>
              <a:rPr lang="zh-CN" altLang="en-US" sz="1200" dirty="0"/>
              <a:t>进行修改、复写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1CFDFA-1A58-450F-9B20-6670239EC5DC}"/>
              </a:ext>
            </a:extLst>
          </p:cNvPr>
          <p:cNvSpPr/>
          <p:nvPr/>
        </p:nvSpPr>
        <p:spPr>
          <a:xfrm>
            <a:off x="6895329" y="1996310"/>
            <a:ext cx="2696665" cy="3054369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左弧形 4">
            <a:extLst>
              <a:ext uri="{FF2B5EF4-FFF2-40B4-BE49-F238E27FC236}">
                <a16:creationId xmlns:a16="http://schemas.microsoft.com/office/drawing/2014/main" id="{7EEA1A6C-76D3-40D0-9D7E-F4D7FFA64F3B}"/>
              </a:ext>
            </a:extLst>
          </p:cNvPr>
          <p:cNvSpPr/>
          <p:nvPr/>
        </p:nvSpPr>
        <p:spPr>
          <a:xfrm rot="5400000">
            <a:off x="4934078" y="-196102"/>
            <a:ext cx="706727" cy="3615624"/>
          </a:xfrm>
          <a:prstGeom prst="curvedRightArrow">
            <a:avLst>
              <a:gd name="adj1" fmla="val 12138"/>
              <a:gd name="adj2" fmla="val 50000"/>
              <a:gd name="adj3" fmla="val 25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E86396-E2CF-4C22-96CE-5D9D41D29CAA}"/>
              </a:ext>
            </a:extLst>
          </p:cNvPr>
          <p:cNvSpPr txBox="1"/>
          <p:nvPr/>
        </p:nvSpPr>
        <p:spPr>
          <a:xfrm>
            <a:off x="6849546" y="1258345"/>
            <a:ext cx="4267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zh-CN" altLang="en-US" sz="1100" dirty="0">
                <a:solidFill>
                  <a:srgbClr val="FF0000"/>
                </a:solidFill>
              </a:rPr>
              <a:t>需要把完整的</a:t>
            </a:r>
            <a:r>
              <a:rPr lang="en-US" altLang="zh-CN" sz="1100" dirty="0">
                <a:solidFill>
                  <a:srgbClr val="FF0000"/>
                </a:solidFill>
              </a:rPr>
              <a:t>Normalized</a:t>
            </a:r>
            <a:r>
              <a:rPr lang="zh-CN" altLang="en-US" sz="1100" dirty="0">
                <a:solidFill>
                  <a:srgbClr val="FF0000"/>
                </a:solidFill>
              </a:rPr>
              <a:t>粘贴到原始</a:t>
            </a:r>
            <a:r>
              <a:rPr lang="en-US" altLang="zh-CN" sz="1100" dirty="0">
                <a:solidFill>
                  <a:srgbClr val="FF0000"/>
                </a:solidFill>
              </a:rPr>
              <a:t>logic</a:t>
            </a:r>
            <a:r>
              <a:rPr lang="zh-CN" altLang="en-US" sz="1100" dirty="0">
                <a:solidFill>
                  <a:srgbClr val="FF0000"/>
                </a:solidFill>
              </a:rPr>
              <a:t>中，确保解析的准确性</a:t>
            </a:r>
          </a:p>
        </p:txBody>
      </p:sp>
    </p:spTree>
    <p:extLst>
      <p:ext uri="{BB962C8B-B14F-4D97-AF65-F5344CB8AC3E}">
        <p14:creationId xmlns:p14="http://schemas.microsoft.com/office/powerpoint/2010/main" val="1813338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65E1898-F1A0-4C53-A53A-9AE99722E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90" y="1060163"/>
            <a:ext cx="7991268" cy="501231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585D54C-2A18-42FD-BC88-3C3B3F62C62A}"/>
              </a:ext>
            </a:extLst>
          </p:cNvPr>
          <p:cNvSpPr/>
          <p:nvPr/>
        </p:nvSpPr>
        <p:spPr>
          <a:xfrm>
            <a:off x="294572" y="372260"/>
            <a:ext cx="3001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重新上传，直到校验没有错误</a:t>
            </a:r>
            <a:endParaRPr lang="en-US" altLang="zh-CN" sz="1200" dirty="0"/>
          </a:p>
          <a:p>
            <a:r>
              <a:rPr lang="zh-CN" altLang="en-US" sz="1200" dirty="0"/>
              <a:t>点击生成</a:t>
            </a:r>
            <a:r>
              <a:rPr lang="en-US" altLang="zh-CN" sz="1200" dirty="0"/>
              <a:t>ECS</a:t>
            </a:r>
            <a:r>
              <a:rPr lang="zh-CN" altLang="en-US" sz="1200" dirty="0"/>
              <a:t>。</a:t>
            </a:r>
            <a:r>
              <a:rPr lang="zh-CN" altLang="en-US" sz="1000" dirty="0">
                <a:solidFill>
                  <a:srgbClr val="FF0000"/>
                </a:solidFill>
              </a:rPr>
              <a:t>（即使有错，也可以强行运行）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CF7C05-7EF7-49B7-B884-5664D3878849}"/>
              </a:ext>
            </a:extLst>
          </p:cNvPr>
          <p:cNvSpPr/>
          <p:nvPr/>
        </p:nvSpPr>
        <p:spPr>
          <a:xfrm>
            <a:off x="2982540" y="1933128"/>
            <a:ext cx="2301341" cy="2491586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7961DBA-A5EF-4628-A87B-5B9DC0298767}"/>
              </a:ext>
            </a:extLst>
          </p:cNvPr>
          <p:cNvCxnSpPr>
            <a:cxnSpLocks/>
          </p:cNvCxnSpPr>
          <p:nvPr/>
        </p:nvCxnSpPr>
        <p:spPr>
          <a:xfrm flipH="1">
            <a:off x="4657917" y="1399216"/>
            <a:ext cx="564596" cy="411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A381677-0D80-4552-91BF-2500A03EFA4F}"/>
              </a:ext>
            </a:extLst>
          </p:cNvPr>
          <p:cNvSpPr txBox="1"/>
          <p:nvPr/>
        </p:nvSpPr>
        <p:spPr>
          <a:xfrm>
            <a:off x="5173654" y="1153273"/>
            <a:ext cx="3207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最终校验的</a:t>
            </a:r>
            <a:r>
              <a:rPr lang="en-US" altLang="zh-CN" sz="1400" dirty="0" err="1">
                <a:solidFill>
                  <a:srgbClr val="FF0000"/>
                </a:solidFill>
              </a:rPr>
              <a:t>logicText</a:t>
            </a:r>
            <a:r>
              <a:rPr lang="zh-CN" altLang="en-US" sz="1400" dirty="0">
                <a:solidFill>
                  <a:srgbClr val="FF0000"/>
                </a:solidFill>
              </a:rPr>
              <a:t>，是标准化的文本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D1FE8E9-0C16-4ECA-825D-AFDCE8226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92" y="4424714"/>
            <a:ext cx="7840586" cy="23465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76AA2A0-73AC-4773-9027-8FCC41FD1D9A}"/>
              </a:ext>
            </a:extLst>
          </p:cNvPr>
          <p:cNvSpPr txBox="1"/>
          <p:nvPr/>
        </p:nvSpPr>
        <p:spPr>
          <a:xfrm>
            <a:off x="5622672" y="4783034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此区域展示最终解析后的文本</a:t>
            </a:r>
          </a:p>
        </p:txBody>
      </p:sp>
    </p:spTree>
    <p:extLst>
      <p:ext uri="{BB962C8B-B14F-4D97-AF65-F5344CB8AC3E}">
        <p14:creationId xmlns:p14="http://schemas.microsoft.com/office/powerpoint/2010/main" val="827652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6">
            <a:extLst>
              <a:ext uri="{FF2B5EF4-FFF2-40B4-BE49-F238E27FC236}">
                <a16:creationId xmlns:a16="http://schemas.microsoft.com/office/drawing/2014/main" id="{0632CC85-C57A-4EF6-99FE-896429CD18F5}"/>
              </a:ext>
            </a:extLst>
          </p:cNvPr>
          <p:cNvSpPr txBox="1">
            <a:spLocks/>
          </p:cNvSpPr>
          <p:nvPr/>
        </p:nvSpPr>
        <p:spPr>
          <a:xfrm>
            <a:off x="541780" y="962233"/>
            <a:ext cx="7685967" cy="72061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RWS</a:t>
            </a:r>
            <a:r>
              <a:rPr lang="zh-CN" altLang="en-US" dirty="0"/>
              <a:t>数据查询与质疑发送使用指南</a:t>
            </a:r>
          </a:p>
        </p:txBody>
      </p:sp>
    </p:spTree>
    <p:extLst>
      <p:ext uri="{BB962C8B-B14F-4D97-AF65-F5344CB8AC3E}">
        <p14:creationId xmlns:p14="http://schemas.microsoft.com/office/powerpoint/2010/main" val="2920630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CE412E5-2F05-4FC9-A484-4974F4A4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57" y="1041584"/>
            <a:ext cx="7417738" cy="570595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DAE5A81-B060-4B9A-BCD8-61C810178B20}"/>
              </a:ext>
            </a:extLst>
          </p:cNvPr>
          <p:cNvSpPr txBox="1"/>
          <p:nvPr/>
        </p:nvSpPr>
        <p:spPr>
          <a:xfrm>
            <a:off x="288435" y="1690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查询数据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0F3884-F8A3-47B7-AB32-54D37D5FD420}"/>
              </a:ext>
            </a:extLst>
          </p:cNvPr>
          <p:cNvSpPr/>
          <p:nvPr/>
        </p:nvSpPr>
        <p:spPr>
          <a:xfrm>
            <a:off x="8045492" y="1041584"/>
            <a:ext cx="3588049" cy="1627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RWS</a:t>
            </a:r>
            <a:r>
              <a:rPr lang="zh-CN" altLang="en-US" sz="1400" dirty="0"/>
              <a:t>使用的前提条件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开通</a:t>
            </a:r>
            <a:r>
              <a:rPr lang="en-US" altLang="zh-CN" sz="1400" dirty="0"/>
              <a:t>RWS</a:t>
            </a:r>
            <a:r>
              <a:rPr lang="zh-CN" altLang="en-US" sz="1400" dirty="0"/>
              <a:t>账号，并赋予对应试验、环境的权限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新增租户，保存租户名、用户名、密码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在</a:t>
            </a:r>
            <a:r>
              <a:rPr lang="en-US" altLang="zh-CN" sz="1400" dirty="0"/>
              <a:t>Config/</a:t>
            </a:r>
            <a:r>
              <a:rPr lang="en-US" altLang="zh-CN" sz="1400" dirty="0" err="1"/>
              <a:t>rws</a:t>
            </a:r>
            <a:r>
              <a:rPr lang="en-US" altLang="zh-CN" sz="1400" dirty="0"/>
              <a:t>-configs</a:t>
            </a:r>
            <a:r>
              <a:rPr lang="zh-CN" altLang="en-US" sz="1400" dirty="0"/>
              <a:t>下配置了租户名对应的表单</a:t>
            </a:r>
            <a:r>
              <a:rPr lang="en-US" altLang="zh-CN" sz="1400" dirty="0"/>
              <a:t>OID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3F4358-D877-4993-9396-2871DB4B91E2}"/>
              </a:ext>
            </a:extLst>
          </p:cNvPr>
          <p:cNvSpPr/>
          <p:nvPr/>
        </p:nvSpPr>
        <p:spPr>
          <a:xfrm>
            <a:off x="8045492" y="2815466"/>
            <a:ext cx="327915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/>
              <a:t>{</a:t>
            </a:r>
          </a:p>
          <a:p>
            <a:r>
              <a:rPr lang="en-US" altLang="zh-CN" sz="800" dirty="0"/>
              <a:t>  "</a:t>
            </a:r>
            <a:r>
              <a:rPr lang="en-US" altLang="zh-CN" sz="800" dirty="0" err="1"/>
              <a:t>selectedTenant</a:t>
            </a:r>
            <a:r>
              <a:rPr lang="en-US" altLang="zh-CN" sz="800" dirty="0"/>
              <a:t>": "your-subdomain",</a:t>
            </a:r>
          </a:p>
          <a:p>
            <a:r>
              <a:rPr lang="en-US" altLang="zh-CN" sz="800" dirty="0"/>
              <a:t>  "tenants": {</a:t>
            </a:r>
          </a:p>
          <a:p>
            <a:r>
              <a:rPr lang="en-US" altLang="zh-CN" sz="800" dirty="0"/>
              <a:t>    "your-subdomain": {</a:t>
            </a:r>
          </a:p>
          <a:p>
            <a:r>
              <a:rPr lang="en-US" altLang="zh-CN" sz="800" dirty="0"/>
              <a:t>      "username": "your-username",</a:t>
            </a:r>
          </a:p>
          <a:p>
            <a:r>
              <a:rPr lang="en-US" altLang="zh-CN" sz="800" dirty="0"/>
              <a:t>      "password": "your-password",</a:t>
            </a:r>
          </a:p>
          <a:p>
            <a:r>
              <a:rPr lang="en-US" altLang="zh-CN" sz="800" dirty="0"/>
              <a:t>      "studies": {</a:t>
            </a:r>
          </a:p>
          <a:p>
            <a:r>
              <a:rPr lang="en-US" altLang="zh-CN" sz="800" dirty="0"/>
              <a:t>        “study001": {</a:t>
            </a:r>
          </a:p>
          <a:p>
            <a:r>
              <a:rPr lang="en-US" altLang="zh-CN" sz="800" dirty="0"/>
              <a:t>          "DEV": ["DM", "AE"],</a:t>
            </a:r>
          </a:p>
          <a:p>
            <a:r>
              <a:rPr lang="en-US" altLang="zh-CN" sz="800" dirty="0"/>
              <a:t>          "UAT": ["DM", "AE"],</a:t>
            </a:r>
          </a:p>
          <a:p>
            <a:r>
              <a:rPr lang="en-US" altLang="zh-CN" sz="800" dirty="0"/>
              <a:t>          "": ["DM", "AE"]</a:t>
            </a:r>
          </a:p>
          <a:p>
            <a:r>
              <a:rPr lang="en-US" altLang="zh-CN" sz="800" dirty="0"/>
              <a:t>        },</a:t>
            </a:r>
          </a:p>
          <a:p>
            <a:r>
              <a:rPr lang="en-US" altLang="zh-CN" sz="800" dirty="0"/>
              <a:t>        "study002": {</a:t>
            </a:r>
          </a:p>
          <a:p>
            <a:r>
              <a:rPr lang="en-US" altLang="zh-CN" sz="800" dirty="0"/>
              <a:t>          "DEV": ["DM", "AE"],</a:t>
            </a:r>
          </a:p>
          <a:p>
            <a:r>
              <a:rPr lang="en-US" altLang="zh-CN" sz="800" dirty="0"/>
              <a:t>          "UAT": ["DM", "AE"],</a:t>
            </a:r>
          </a:p>
          <a:p>
            <a:r>
              <a:rPr lang="en-US" altLang="zh-CN" sz="800" dirty="0"/>
              <a:t>          "": ["DM", "AE"]</a:t>
            </a:r>
          </a:p>
          <a:p>
            <a:r>
              <a:rPr lang="en-US" altLang="zh-CN" sz="800" dirty="0"/>
              <a:t>        }</a:t>
            </a:r>
          </a:p>
          <a:p>
            <a:r>
              <a:rPr lang="en-US" altLang="zh-CN" sz="800" dirty="0"/>
              <a:t>      }</a:t>
            </a:r>
          </a:p>
          <a:p>
            <a:r>
              <a:rPr lang="en-US" altLang="zh-CN" sz="800" dirty="0"/>
              <a:t>    },</a:t>
            </a:r>
          </a:p>
          <a:p>
            <a:r>
              <a:rPr lang="en-US" altLang="zh-CN" sz="800" dirty="0"/>
              <a:t>    "another-subdomain": {</a:t>
            </a:r>
          </a:p>
          <a:p>
            <a:r>
              <a:rPr lang="en-US" altLang="zh-CN" sz="800" dirty="0"/>
              <a:t>      "username": "another-username",</a:t>
            </a:r>
          </a:p>
          <a:p>
            <a:r>
              <a:rPr lang="en-US" altLang="zh-CN" sz="800" dirty="0"/>
              <a:t>      "password": "another-password",</a:t>
            </a:r>
          </a:p>
          <a:p>
            <a:r>
              <a:rPr lang="en-US" altLang="zh-CN" sz="800" dirty="0"/>
              <a:t>      "studies": {</a:t>
            </a:r>
          </a:p>
          <a:p>
            <a:r>
              <a:rPr lang="en-US" altLang="zh-CN" sz="800" dirty="0"/>
              <a:t>        "study101": {</a:t>
            </a:r>
          </a:p>
          <a:p>
            <a:r>
              <a:rPr lang="en-US" altLang="zh-CN" sz="800" dirty="0"/>
              <a:t>          "": ["DM", "AE", "CM"]</a:t>
            </a:r>
          </a:p>
          <a:p>
            <a:r>
              <a:rPr lang="en-US" altLang="zh-CN" sz="800" dirty="0"/>
              <a:t>        }</a:t>
            </a:r>
          </a:p>
          <a:p>
            <a:r>
              <a:rPr lang="en-US" altLang="zh-CN" sz="800" dirty="0"/>
              <a:t>      }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/>
              <a:t>  }</a:t>
            </a:r>
          </a:p>
          <a:p>
            <a:r>
              <a:rPr lang="en-US" altLang="zh-CN" sz="800" dirty="0"/>
              <a:t>}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3550228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39C9746-3695-4E05-8408-5E0EC7C13F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724"/>
          <a:stretch/>
        </p:blipFill>
        <p:spPr>
          <a:xfrm>
            <a:off x="277631" y="1165805"/>
            <a:ext cx="6012705" cy="19269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826B78E-0ED3-45B2-8BF9-E66A7D0DC699}"/>
              </a:ext>
            </a:extLst>
          </p:cNvPr>
          <p:cNvSpPr txBox="1"/>
          <p:nvPr/>
        </p:nvSpPr>
        <p:spPr>
          <a:xfrm>
            <a:off x="141148" y="24547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简单条件筛选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271F13-51CB-44B8-A9F6-2A6E3C302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31" y="797974"/>
            <a:ext cx="707848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Mona Sans VF"/>
              </a:rPr>
              <a:t>查询结果可使用简单表达式筛选，支持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 panose="020B0604020202020204" pitchFamily="34" charset="-122"/>
                <a:ea typeface="Monaspace Neon"/>
              </a:rPr>
              <a:t>=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Mona Sans VF"/>
              </a:rPr>
              <a:t>、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 panose="020B0604020202020204" pitchFamily="34" charset="-122"/>
                <a:ea typeface="Monaspace Neon"/>
              </a:rPr>
              <a:t>!=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Mona Sans VF"/>
              </a:rPr>
              <a:t>、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 panose="020B0604020202020204" pitchFamily="34" charset="-122"/>
                <a:ea typeface="Monaspace Neon"/>
              </a:rPr>
              <a:t>contains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Mona Sans VF"/>
              </a:rPr>
              <a:t>、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 panose="020B0604020202020204" pitchFamily="34" charset="-122"/>
                <a:ea typeface="Monaspace Neon"/>
              </a:rPr>
              <a:t>in (...)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Mona Sans VF"/>
              </a:rPr>
              <a:t>、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 panose="020B0604020202020204" pitchFamily="34" charset="-122"/>
                <a:ea typeface="Monaspace Neon"/>
              </a:rPr>
              <a:t>is null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Mona Sans VF"/>
              </a:rPr>
              <a:t>、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 panose="020B0604020202020204" pitchFamily="34" charset="-122"/>
                <a:ea typeface="Monaspace Neon"/>
              </a:rPr>
              <a:t>is not null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Mona Sans VF"/>
              </a:rPr>
              <a:t>，以及最多一个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 panose="020B0604020202020204" pitchFamily="34" charset="-122"/>
                <a:ea typeface="Monaspace Neon"/>
              </a:rPr>
              <a:t>and/or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100F51-C77F-42E8-80C4-260809033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31" y="3200600"/>
            <a:ext cx="6135443" cy="16440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F1E824-FAE8-45AE-999B-F437694F2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95" y="4844661"/>
            <a:ext cx="5866375" cy="189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14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3FC5064-D7AB-40E0-81FA-CDD7B2C2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48" y="2423407"/>
            <a:ext cx="9960209" cy="433028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014E80F-33BD-44F5-A8D6-B876696A462D}"/>
              </a:ext>
            </a:extLst>
          </p:cNvPr>
          <p:cNvSpPr txBox="1"/>
          <p:nvPr/>
        </p:nvSpPr>
        <p:spPr>
          <a:xfrm>
            <a:off x="141148" y="24547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质疑发送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272FD8-5451-4ED8-AAF2-4CED73EA336F}"/>
              </a:ext>
            </a:extLst>
          </p:cNvPr>
          <p:cNvSpPr/>
          <p:nvPr/>
        </p:nvSpPr>
        <p:spPr>
          <a:xfrm>
            <a:off x="1022306" y="3088680"/>
            <a:ext cx="1217665" cy="317001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F929D2-1AE0-4A37-AA3A-ABD1A2B6DE53}"/>
              </a:ext>
            </a:extLst>
          </p:cNvPr>
          <p:cNvSpPr txBox="1"/>
          <p:nvPr/>
        </p:nvSpPr>
        <p:spPr>
          <a:xfrm>
            <a:off x="914399" y="2799128"/>
            <a:ext cx="19159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9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接受组需要根据实际情况进行修改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BD038F-9C13-4438-9D90-6ACB7854AFE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178" b="37842"/>
          <a:stretch/>
        </p:blipFill>
        <p:spPr>
          <a:xfrm>
            <a:off x="141148" y="906447"/>
            <a:ext cx="7418619" cy="103647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D67A55F-C75C-45A9-998A-D57E9DE992CC}"/>
              </a:ext>
            </a:extLst>
          </p:cNvPr>
          <p:cNvSpPr/>
          <p:nvPr/>
        </p:nvSpPr>
        <p:spPr>
          <a:xfrm>
            <a:off x="7769332" y="763411"/>
            <a:ext cx="4422668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Notice</a:t>
            </a:r>
          </a:p>
          <a:p>
            <a:r>
              <a:rPr lang="zh-CN" altLang="en-US" sz="1100" dirty="0"/>
              <a:t>1.针对包含父访视的Folder，FolderRepeatNumber格式需为"父文件夹OID[Repeat Number]/子文件夹OID[Repeat Number]"</a:t>
            </a:r>
          </a:p>
          <a:p>
            <a:r>
              <a:rPr lang="zh-CN" altLang="en-US" sz="1100" dirty="0"/>
              <a:t>2. repeatNumber从</a:t>
            </a:r>
            <a:r>
              <a:rPr lang="zh-CN" altLang="en-US" sz="1100" dirty="0">
                <a:solidFill>
                  <a:srgbClr val="FF0000"/>
                </a:solidFill>
              </a:rPr>
              <a:t>0</a:t>
            </a:r>
            <a:r>
              <a:rPr lang="zh-CN" altLang="en-US" sz="1100" dirty="0"/>
              <a:t>开始计数，</a:t>
            </a:r>
            <a:endParaRPr lang="en-US" altLang="zh-CN" sz="1100" dirty="0"/>
          </a:p>
          <a:p>
            <a:r>
              <a:rPr lang="en-US" altLang="zh-CN" sz="1100" dirty="0"/>
              <a:t>3. </a:t>
            </a:r>
            <a:r>
              <a:rPr lang="zh-CN" altLang="en-US" sz="1100" dirty="0"/>
              <a:t>recordposition从</a:t>
            </a:r>
            <a:r>
              <a:rPr lang="zh-CN" altLang="en-US" sz="1100" dirty="0">
                <a:solidFill>
                  <a:srgbClr val="FF0000"/>
                </a:solidFill>
              </a:rPr>
              <a:t>1</a:t>
            </a:r>
            <a:r>
              <a:rPr lang="zh-CN" altLang="en-US" sz="1100" dirty="0"/>
              <a:t>开始计数，</a:t>
            </a:r>
            <a:r>
              <a:rPr lang="zh-CN" altLang="en-US" sz="1100" dirty="0">
                <a:solidFill>
                  <a:srgbClr val="FF0000"/>
                </a:solidFill>
              </a:rPr>
              <a:t>如果是非logline字段，recordposition 为 空</a:t>
            </a:r>
          </a:p>
          <a:p>
            <a:r>
              <a:rPr lang="en-US" altLang="zh-CN" sz="1100" dirty="0"/>
              <a:t>4</a:t>
            </a:r>
            <a:r>
              <a:rPr lang="zh-CN" altLang="en-US" sz="1100" dirty="0"/>
              <a:t>. 如果Data有Specify值，填入Specify，否则为空</a:t>
            </a:r>
          </a:p>
        </p:txBody>
      </p:sp>
    </p:spTree>
    <p:extLst>
      <p:ext uri="{BB962C8B-B14F-4D97-AF65-F5344CB8AC3E}">
        <p14:creationId xmlns:p14="http://schemas.microsoft.com/office/powerpoint/2010/main" val="370769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3581</Words>
  <Application>Microsoft Office PowerPoint</Application>
  <PresentationFormat>宽屏</PresentationFormat>
  <Paragraphs>645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 Unicode MS</vt:lpstr>
      <vt:lpstr>Mona Sans VF</vt:lpstr>
      <vt:lpstr>Monaspace Neon</vt:lpstr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CRF快速建库（Clinflash版）使用指南</dc:title>
  <dc:creator>周华伟(Zhou Huawei)</dc:creator>
  <cp:lastModifiedBy>YJ230024-ZHW</cp:lastModifiedBy>
  <cp:revision>50</cp:revision>
  <dcterms:created xsi:type="dcterms:W3CDTF">2025-12-25T07:14:42Z</dcterms:created>
  <dcterms:modified xsi:type="dcterms:W3CDTF">2026-09-18T07:55:27Z</dcterms:modified>
</cp:coreProperties>
</file>